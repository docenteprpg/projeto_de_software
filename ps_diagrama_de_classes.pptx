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71"/>
  </p:notesMasterIdLst>
  <p:sldIdLst>
    <p:sldId id="256" r:id="rId2"/>
    <p:sldId id="257" r:id="rId3"/>
    <p:sldId id="323" r:id="rId4"/>
    <p:sldId id="340" r:id="rId5"/>
    <p:sldId id="347" r:id="rId6"/>
    <p:sldId id="348" r:id="rId7"/>
    <p:sldId id="341" r:id="rId8"/>
    <p:sldId id="349" r:id="rId9"/>
    <p:sldId id="342" r:id="rId10"/>
    <p:sldId id="350" r:id="rId11"/>
    <p:sldId id="351" r:id="rId12"/>
    <p:sldId id="352" r:id="rId13"/>
    <p:sldId id="361" r:id="rId14"/>
    <p:sldId id="376" r:id="rId15"/>
    <p:sldId id="366" r:id="rId16"/>
    <p:sldId id="420" r:id="rId17"/>
    <p:sldId id="364" r:id="rId18"/>
    <p:sldId id="365" r:id="rId19"/>
    <p:sldId id="421" r:id="rId20"/>
    <p:sldId id="368" r:id="rId21"/>
    <p:sldId id="422" r:id="rId22"/>
    <p:sldId id="363" r:id="rId23"/>
    <p:sldId id="379" r:id="rId24"/>
    <p:sldId id="360" r:id="rId25"/>
    <p:sldId id="369" r:id="rId26"/>
    <p:sldId id="423" r:id="rId27"/>
    <p:sldId id="370" r:id="rId28"/>
    <p:sldId id="344" r:id="rId29"/>
    <p:sldId id="353" r:id="rId30"/>
    <p:sldId id="354" r:id="rId31"/>
    <p:sldId id="355" r:id="rId32"/>
    <p:sldId id="345" r:id="rId33"/>
    <p:sldId id="346" r:id="rId34"/>
    <p:sldId id="356" r:id="rId35"/>
    <p:sldId id="357" r:id="rId36"/>
    <p:sldId id="416" r:id="rId37"/>
    <p:sldId id="400" r:id="rId38"/>
    <p:sldId id="401" r:id="rId39"/>
    <p:sldId id="394" r:id="rId40"/>
    <p:sldId id="393" r:id="rId41"/>
    <p:sldId id="395" r:id="rId42"/>
    <p:sldId id="373" r:id="rId43"/>
    <p:sldId id="374" r:id="rId44"/>
    <p:sldId id="402" r:id="rId45"/>
    <p:sldId id="403" r:id="rId46"/>
    <p:sldId id="378" r:id="rId47"/>
    <p:sldId id="404" r:id="rId48"/>
    <p:sldId id="375" r:id="rId49"/>
    <p:sldId id="396" r:id="rId50"/>
    <p:sldId id="371" r:id="rId51"/>
    <p:sldId id="377" r:id="rId52"/>
    <p:sldId id="381" r:id="rId53"/>
    <p:sldId id="406" r:id="rId54"/>
    <p:sldId id="408" r:id="rId55"/>
    <p:sldId id="409" r:id="rId56"/>
    <p:sldId id="384" r:id="rId57"/>
    <p:sldId id="410" r:id="rId58"/>
    <p:sldId id="407" r:id="rId59"/>
    <p:sldId id="397" r:id="rId60"/>
    <p:sldId id="382" r:id="rId61"/>
    <p:sldId id="383" r:id="rId62"/>
    <p:sldId id="399" r:id="rId63"/>
    <p:sldId id="389" r:id="rId64"/>
    <p:sldId id="412" r:id="rId65"/>
    <p:sldId id="391" r:id="rId66"/>
    <p:sldId id="413" r:id="rId67"/>
    <p:sldId id="414" r:id="rId68"/>
    <p:sldId id="372" r:id="rId69"/>
    <p:sldId id="303" r:id="rId7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2" roundtripDataSignature="AMtx7mgkozaHFeuHKbet//AbhXnw8FBJ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86" autoAdjust="0"/>
    <p:restoredTop sz="94660"/>
  </p:normalViewPr>
  <p:slideViewPr>
    <p:cSldViewPr snapToGrid="0">
      <p:cViewPr varScale="1">
        <p:scale>
          <a:sx n="93" d="100"/>
          <a:sy n="93" d="100"/>
        </p:scale>
        <p:origin x="543" y="5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customschemas.google.com/relationships/presentationmetadata" Target="meta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261e1cd0b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4261e1cd0b_2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33282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261e1cd0b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4261e1cd0b_2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49473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261e1cd0b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4261e1cd0b_2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40936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261e1cd0b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4261e1cd0b_2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85316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261e1cd0b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4261e1cd0b_2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39691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261e1cd0b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4261e1cd0b_2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31486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261e1cd0b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4261e1cd0b_2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5288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261e1cd0b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4261e1cd0b_2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96654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261e1cd0b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4261e1cd0b_2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92941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261e1cd0b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4261e1cd0b_2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206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261e1cd0b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4261e1cd0b_2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83741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0545143C-E7A2-4AFF-3C68-7217EA98B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261e1cd0b_2_35:notes">
            <a:extLst>
              <a:ext uri="{FF2B5EF4-FFF2-40B4-BE49-F238E27FC236}">
                <a16:creationId xmlns:a16="http://schemas.microsoft.com/office/drawing/2014/main" id="{54C7092D-DB32-4FF1-1E55-ECB64967D7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4261e1cd0b_2_35:notes">
            <a:extLst>
              <a:ext uri="{FF2B5EF4-FFF2-40B4-BE49-F238E27FC236}">
                <a16:creationId xmlns:a16="http://schemas.microsoft.com/office/drawing/2014/main" id="{1C12B792-B997-80D7-B8DB-E1A2D71484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02817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775754B4-BA3E-AECE-022C-C64189704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261e1cd0b_2_35:notes">
            <a:extLst>
              <a:ext uri="{FF2B5EF4-FFF2-40B4-BE49-F238E27FC236}">
                <a16:creationId xmlns:a16="http://schemas.microsoft.com/office/drawing/2014/main" id="{22C4831A-5EFB-9583-B30C-DB17B7D4CE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4261e1cd0b_2_35:notes">
            <a:extLst>
              <a:ext uri="{FF2B5EF4-FFF2-40B4-BE49-F238E27FC236}">
                <a16:creationId xmlns:a16="http://schemas.microsoft.com/office/drawing/2014/main" id="{061C83ED-BA48-F4AC-4BE3-5F2993302B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46898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B728A4C1-44F3-0AC7-1447-85A9AF2BD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261e1cd0b_2_35:notes">
            <a:extLst>
              <a:ext uri="{FF2B5EF4-FFF2-40B4-BE49-F238E27FC236}">
                <a16:creationId xmlns:a16="http://schemas.microsoft.com/office/drawing/2014/main" id="{0E5677F4-DF58-C06E-2843-3CA4947EFE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4261e1cd0b_2_35:notes">
            <a:extLst>
              <a:ext uri="{FF2B5EF4-FFF2-40B4-BE49-F238E27FC236}">
                <a16:creationId xmlns:a16="http://schemas.microsoft.com/office/drawing/2014/main" id="{9C8C3A67-9DDF-E87D-0620-8B1C9AF507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93618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53CB868B-AAD3-9B4A-8EA1-D9FAE6D7E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261e1cd0b_2_35:notes">
            <a:extLst>
              <a:ext uri="{FF2B5EF4-FFF2-40B4-BE49-F238E27FC236}">
                <a16:creationId xmlns:a16="http://schemas.microsoft.com/office/drawing/2014/main" id="{EFC670AE-03E1-3473-AA8B-0BF59F682F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4261e1cd0b_2_35:notes">
            <a:extLst>
              <a:ext uri="{FF2B5EF4-FFF2-40B4-BE49-F238E27FC236}">
                <a16:creationId xmlns:a16="http://schemas.microsoft.com/office/drawing/2014/main" id="{80C31927-AF06-BE72-F386-E0BE4BA652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74467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0165C42A-B10E-B31D-5548-9ED53B932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261e1cd0b_2_35:notes">
            <a:extLst>
              <a:ext uri="{FF2B5EF4-FFF2-40B4-BE49-F238E27FC236}">
                <a16:creationId xmlns:a16="http://schemas.microsoft.com/office/drawing/2014/main" id="{2A42B740-6A97-E229-0A12-720CDFB81A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4261e1cd0b_2_35:notes">
            <a:extLst>
              <a:ext uri="{FF2B5EF4-FFF2-40B4-BE49-F238E27FC236}">
                <a16:creationId xmlns:a16="http://schemas.microsoft.com/office/drawing/2014/main" id="{5ABBEE93-4E17-7353-9041-1B8309BFE1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55243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AF138395-A308-DAD1-46AD-C1093632A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261e1cd0b_2_35:notes">
            <a:extLst>
              <a:ext uri="{FF2B5EF4-FFF2-40B4-BE49-F238E27FC236}">
                <a16:creationId xmlns:a16="http://schemas.microsoft.com/office/drawing/2014/main" id="{8DEA9B56-DBA7-AF3A-8205-41E6C5F805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4261e1cd0b_2_35:notes">
            <a:extLst>
              <a:ext uri="{FF2B5EF4-FFF2-40B4-BE49-F238E27FC236}">
                <a16:creationId xmlns:a16="http://schemas.microsoft.com/office/drawing/2014/main" id="{01669243-3B18-EA7B-6449-FE5E72390D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45844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5A605627-FB88-22ED-2F0A-91B138FC0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261e1cd0b_2_35:notes">
            <a:extLst>
              <a:ext uri="{FF2B5EF4-FFF2-40B4-BE49-F238E27FC236}">
                <a16:creationId xmlns:a16="http://schemas.microsoft.com/office/drawing/2014/main" id="{4A1E14AA-9DB9-1B69-8073-519F2F092A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4261e1cd0b_2_35:notes">
            <a:extLst>
              <a:ext uri="{FF2B5EF4-FFF2-40B4-BE49-F238E27FC236}">
                <a16:creationId xmlns:a16="http://schemas.microsoft.com/office/drawing/2014/main" id="{2E9F79BC-A47E-E91B-9A65-C66BA2AAEB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35724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DD48A829-6341-1F73-8719-3730E9A52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261e1cd0b_2_35:notes">
            <a:extLst>
              <a:ext uri="{FF2B5EF4-FFF2-40B4-BE49-F238E27FC236}">
                <a16:creationId xmlns:a16="http://schemas.microsoft.com/office/drawing/2014/main" id="{36D95DF7-4F55-56CF-BF42-C1CE822005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4261e1cd0b_2_35:notes">
            <a:extLst>
              <a:ext uri="{FF2B5EF4-FFF2-40B4-BE49-F238E27FC236}">
                <a16:creationId xmlns:a16="http://schemas.microsoft.com/office/drawing/2014/main" id="{28597788-B14D-6624-F81E-C7D848FAEC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08421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310F3DBF-B54A-E108-EF15-6C026193A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261e1cd0b_2_35:notes">
            <a:extLst>
              <a:ext uri="{FF2B5EF4-FFF2-40B4-BE49-F238E27FC236}">
                <a16:creationId xmlns:a16="http://schemas.microsoft.com/office/drawing/2014/main" id="{E1E0CB7A-8075-3125-B07A-CCC18CC607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4261e1cd0b_2_35:notes">
            <a:extLst>
              <a:ext uri="{FF2B5EF4-FFF2-40B4-BE49-F238E27FC236}">
                <a16:creationId xmlns:a16="http://schemas.microsoft.com/office/drawing/2014/main" id="{D40E5682-9477-3699-939B-305A329F27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688420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E7D4F1F2-E53A-775C-0A1F-5BFFCE216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261e1cd0b_2_35:notes">
            <a:extLst>
              <a:ext uri="{FF2B5EF4-FFF2-40B4-BE49-F238E27FC236}">
                <a16:creationId xmlns:a16="http://schemas.microsoft.com/office/drawing/2014/main" id="{1ECEE0A8-7D7F-DEE9-FC3D-8D4CAFB13B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4261e1cd0b_2_35:notes">
            <a:extLst>
              <a:ext uri="{FF2B5EF4-FFF2-40B4-BE49-F238E27FC236}">
                <a16:creationId xmlns:a16="http://schemas.microsoft.com/office/drawing/2014/main" id="{E1BB95BE-53B4-B732-3651-84CB3E81BD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17932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050C7EF7-29CA-99AE-F5FD-7E86B8D61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261e1cd0b_2_35:notes">
            <a:extLst>
              <a:ext uri="{FF2B5EF4-FFF2-40B4-BE49-F238E27FC236}">
                <a16:creationId xmlns:a16="http://schemas.microsoft.com/office/drawing/2014/main" id="{445668F1-F38F-659A-0772-84A06658C4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4261e1cd0b_2_35:notes">
            <a:extLst>
              <a:ext uri="{FF2B5EF4-FFF2-40B4-BE49-F238E27FC236}">
                <a16:creationId xmlns:a16="http://schemas.microsoft.com/office/drawing/2014/main" id="{D6B921AD-FCD0-D296-4E50-846CB5826A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536017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4E731D52-D029-755D-DCE4-21BC41AE6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261e1cd0b_2_35:notes">
            <a:extLst>
              <a:ext uri="{FF2B5EF4-FFF2-40B4-BE49-F238E27FC236}">
                <a16:creationId xmlns:a16="http://schemas.microsoft.com/office/drawing/2014/main" id="{D1438F6E-7F09-5256-81F5-C6D0065219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4261e1cd0b_2_35:notes">
            <a:extLst>
              <a:ext uri="{FF2B5EF4-FFF2-40B4-BE49-F238E27FC236}">
                <a16:creationId xmlns:a16="http://schemas.microsoft.com/office/drawing/2014/main" id="{5E057BF7-059C-0157-1034-10A21B9E9E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71071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0F31CDEF-522A-9686-9B0A-A31BA91AC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261e1cd0b_2_35:notes">
            <a:extLst>
              <a:ext uri="{FF2B5EF4-FFF2-40B4-BE49-F238E27FC236}">
                <a16:creationId xmlns:a16="http://schemas.microsoft.com/office/drawing/2014/main" id="{BE6864B7-A5BF-0F60-CA9B-D5A71BDF9D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4261e1cd0b_2_35:notes">
            <a:extLst>
              <a:ext uri="{FF2B5EF4-FFF2-40B4-BE49-F238E27FC236}">
                <a16:creationId xmlns:a16="http://schemas.microsoft.com/office/drawing/2014/main" id="{C2307D35-DDF3-EF21-AC6E-1EAF15E7E0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00260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261e1cd0b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4261e1cd0b_2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001224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261e1cd0b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4261e1cd0b_2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804998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261e1cd0b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4261e1cd0b_2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925477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261e1cd0b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4261e1cd0b_2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324888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261e1cd0b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4261e1cd0b_2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875455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261e1cd0b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4261e1cd0b_2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218280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261e1cd0b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4261e1cd0b_2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176498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261e1cd0b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4261e1cd0b_2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498653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261e1cd0b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4261e1cd0b_2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5231422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261e1cd0b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4261e1cd0b_2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3332827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261e1cd0b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4261e1cd0b_2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157167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261e1cd0b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4261e1cd0b_2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429579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261e1cd0b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4261e1cd0b_2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9633410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261e1cd0b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4261e1cd0b_2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950420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261e1cd0b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4261e1cd0b_2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70086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261e1cd0b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4261e1cd0b_2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695292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261e1cd0b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4261e1cd0b_2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889775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261e1cd0b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4261e1cd0b_2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919737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261e1cd0b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4261e1cd0b_2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72660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261e1cd0b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4261e1cd0b_2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484788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261e1cd0b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4261e1cd0b_2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791060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261e1cd0b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4261e1cd0b_2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972939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261e1cd0b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4261e1cd0b_2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93597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261e1cd0b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4261e1cd0b_2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771836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261e1cd0b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4261e1cd0b_2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231051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261e1cd0b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4261e1cd0b_2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599024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261e1cd0b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4261e1cd0b_2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30566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261e1cd0b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4261e1cd0b_2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416797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261e1cd0b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4261e1cd0b_2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76575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261e1cd0b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4261e1cd0b_2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811164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261e1cd0b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4261e1cd0b_2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6316266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261e1cd0b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4261e1cd0b_2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007603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261e1cd0b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4261e1cd0b_2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831086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261e1cd0b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4261e1cd0b_2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35828237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261e1cd0b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4261e1cd0b_2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02435195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261e1cd0b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4261e1cd0b_2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2095268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261e1cd0b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4261e1cd0b_2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17300676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261e1cd0b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4261e1cd0b_2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40348133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261e1cd0b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4261e1cd0b_2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29317068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261e1cd0b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4261e1cd0b_2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32978736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4" name="Google Shape;424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3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2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42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4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44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44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4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5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4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6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46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 sz="4100" dirty="0" err="1"/>
              <a:t>Projeto</a:t>
            </a:r>
            <a:r>
              <a:rPr lang="en-US" sz="4100" dirty="0"/>
              <a:t> de Software</a:t>
            </a:r>
            <a:endParaRPr sz="4100" dirty="0"/>
          </a:p>
        </p:txBody>
      </p:sp>
      <p:sp>
        <p:nvSpPr>
          <p:cNvPr id="55" name="Google Shape;55;p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pt-BR" dirty="0"/>
              <a:t>Diagrama de classes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pt-BR" dirty="0"/>
              <a:t>Profª Me. Denise do Rocio Maciel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pt-BR"/>
              <a:t>Na aula passada…</a:t>
            </a:r>
            <a:endParaRPr/>
          </a:p>
        </p:txBody>
      </p:sp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CBA6EF28-BA53-744C-E0BE-2502A83C0EE8}"/>
              </a:ext>
            </a:extLst>
          </p:cNvPr>
          <p:cNvSpPr/>
          <p:nvPr/>
        </p:nvSpPr>
        <p:spPr>
          <a:xfrm rot="5400000">
            <a:off x="1453801" y="2331635"/>
            <a:ext cx="693641" cy="384741"/>
          </a:xfrm>
          <a:prstGeom prst="rightArrow">
            <a:avLst/>
          </a:prstGeom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7D1FCAD-430D-D8A2-3CE4-48F0AB06D0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0868" y="1702764"/>
            <a:ext cx="5773521" cy="172202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265BEDF-FC44-F7EB-E57D-6AFBA66A3D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090" y="1017726"/>
            <a:ext cx="1235532" cy="1053836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8CBC89EF-BF3C-CB1B-28F5-DD56E6B523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765" y="2976450"/>
            <a:ext cx="2480972" cy="1722025"/>
          </a:xfrm>
          <a:prstGeom prst="rect">
            <a:avLst/>
          </a:prstGeom>
        </p:spPr>
      </p:pic>
      <p:sp>
        <p:nvSpPr>
          <p:cNvPr id="15" name="Seta: para a Direita 14">
            <a:extLst>
              <a:ext uri="{FF2B5EF4-FFF2-40B4-BE49-F238E27FC236}">
                <a16:creationId xmlns:a16="http://schemas.microsoft.com/office/drawing/2014/main" id="{D8A224F0-5852-0438-9BF1-A8B23EB3E2A3}"/>
              </a:ext>
            </a:extLst>
          </p:cNvPr>
          <p:cNvSpPr/>
          <p:nvPr/>
        </p:nvSpPr>
        <p:spPr>
          <a:xfrm rot="19240323">
            <a:off x="3758683" y="3811787"/>
            <a:ext cx="693641" cy="384741"/>
          </a:xfrm>
          <a:prstGeom prst="rightArrow">
            <a:avLst/>
          </a:prstGeom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4261e1cd0b_2_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Tópicos a serem trabalhados </a:t>
            </a:r>
            <a:r>
              <a:rPr lang="pt-BR"/>
              <a:t>na aula</a:t>
            </a:r>
            <a:endParaRPr dirty="0"/>
          </a:p>
        </p:txBody>
      </p:sp>
      <p:sp>
        <p:nvSpPr>
          <p:cNvPr id="76" name="Google Shape;76;g14261e1cd0b_2_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Classes de objetos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Atributos ou propriedades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Métodos, operações ou comportamentos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pt-BR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Visibilidade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Herança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Polimorfismo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21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4261e1cd0b_2_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Tópicos a serem trabalhados </a:t>
            </a:r>
            <a:r>
              <a:rPr lang="pt-BR"/>
              <a:t>na aula</a:t>
            </a:r>
            <a:endParaRPr dirty="0"/>
          </a:p>
        </p:txBody>
      </p:sp>
      <p:sp>
        <p:nvSpPr>
          <p:cNvPr id="76" name="Google Shape;76;g14261e1cd0b_2_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>
                <a:highlight>
                  <a:srgbClr val="C0C0C0"/>
                </a:highlight>
              </a:rPr>
              <a:t>Classes de objetos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Atributos ou propriedades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Métodos, operações ou comportamentos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Visibilidade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Herança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Polimorfismo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Multiplicidade</a:t>
            </a:r>
          </a:p>
          <a:p>
            <a:pPr marL="285750" lvl="0" indent="-285750">
              <a:buFontTx/>
              <a:buChar char="-"/>
            </a:pPr>
            <a:r>
              <a:rPr lang="pt-BR" dirty="0"/>
              <a:t>Papéis</a:t>
            </a:r>
          </a:p>
          <a:p>
            <a:pPr marL="285750" lvl="0" indent="-285750">
              <a:buFontTx/>
              <a:buChar char="-"/>
            </a:pPr>
            <a:r>
              <a:rPr lang="pt-BR" dirty="0"/>
              <a:t>Relacionamentos ou Associações</a:t>
            </a:r>
          </a:p>
          <a:p>
            <a:pPr marL="0" lvl="0" indent="0">
              <a:buNone/>
            </a:pPr>
            <a:r>
              <a:rPr lang="pt-BR" dirty="0"/>
              <a:t>     &gt;&gt; Relações unárias</a:t>
            </a:r>
          </a:p>
          <a:p>
            <a:pPr marL="0" lvl="0" indent="0">
              <a:buNone/>
            </a:pPr>
            <a:r>
              <a:rPr lang="pt-BR" dirty="0"/>
              <a:t>     &gt;&gt; Relações binárias</a:t>
            </a:r>
          </a:p>
          <a:p>
            <a:pPr marL="0" lvl="0" indent="0">
              <a:buNone/>
            </a:pPr>
            <a:r>
              <a:rPr lang="pt-BR" dirty="0"/>
              <a:t>     &gt;&gt; Relações ternárias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24884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4261e1cd0b_2_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Classes e objetos</a:t>
            </a:r>
            <a:endParaRPr dirty="0"/>
          </a:p>
        </p:txBody>
      </p:sp>
      <p:sp>
        <p:nvSpPr>
          <p:cNvPr id="76" name="Google Shape;76;g14261e1cd0b_2_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548201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dirty="0"/>
              <a:t>Classes: </a:t>
            </a:r>
            <a:r>
              <a:rPr lang="pt-BR" dirty="0"/>
              <a:t>podemos dizer que as classes representam uma categoria (molde).</a:t>
            </a:r>
          </a:p>
        </p:txBody>
      </p:sp>
      <p:sp>
        <p:nvSpPr>
          <p:cNvPr id="3" name="Google Shape;76;g14261e1cd0b_2_35">
            <a:extLst>
              <a:ext uri="{FF2B5EF4-FFF2-40B4-BE49-F238E27FC236}">
                <a16:creationId xmlns:a16="http://schemas.microsoft.com/office/drawing/2014/main" id="{0DAF5B02-2B1D-913C-8E4E-7478896E7436}"/>
              </a:ext>
            </a:extLst>
          </p:cNvPr>
          <p:cNvSpPr txBox="1">
            <a:spLocks/>
          </p:cNvSpPr>
          <p:nvPr/>
        </p:nvSpPr>
        <p:spPr>
          <a:xfrm>
            <a:off x="4356369" y="1152475"/>
            <a:ext cx="3548201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 typeface="Arial"/>
              <a:buNone/>
            </a:pPr>
            <a:r>
              <a:rPr lang="pt-BR" b="1" dirty="0"/>
              <a:t>Objetos: </a:t>
            </a:r>
            <a:r>
              <a:rPr lang="pt-BR" dirty="0"/>
              <a:t>elementos criados a partir da classe (objetos criados a partir do molde).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ACC1E7E-BBD1-E33A-FF35-4C5D1F7AAC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264" y="3091895"/>
            <a:ext cx="1667647" cy="1384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0546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4261e1cd0b_2_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Classes e objetos</a:t>
            </a:r>
            <a:endParaRPr dirty="0"/>
          </a:p>
        </p:txBody>
      </p:sp>
      <p:sp>
        <p:nvSpPr>
          <p:cNvPr id="76" name="Google Shape;76;g14261e1cd0b_2_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548201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dirty="0"/>
              <a:t>Classes: </a:t>
            </a:r>
            <a:r>
              <a:rPr lang="pt-BR" dirty="0"/>
              <a:t>podemos dizer que as classes representam uma categoria (molde).</a:t>
            </a:r>
          </a:p>
        </p:txBody>
      </p:sp>
      <p:sp>
        <p:nvSpPr>
          <p:cNvPr id="3" name="Google Shape;76;g14261e1cd0b_2_35">
            <a:extLst>
              <a:ext uri="{FF2B5EF4-FFF2-40B4-BE49-F238E27FC236}">
                <a16:creationId xmlns:a16="http://schemas.microsoft.com/office/drawing/2014/main" id="{0DAF5B02-2B1D-913C-8E4E-7478896E7436}"/>
              </a:ext>
            </a:extLst>
          </p:cNvPr>
          <p:cNvSpPr txBox="1">
            <a:spLocks/>
          </p:cNvSpPr>
          <p:nvPr/>
        </p:nvSpPr>
        <p:spPr>
          <a:xfrm>
            <a:off x="4356369" y="1152475"/>
            <a:ext cx="3548201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 typeface="Arial"/>
              <a:buNone/>
            </a:pPr>
            <a:r>
              <a:rPr lang="pt-BR" b="1" dirty="0"/>
              <a:t>Objetos: </a:t>
            </a:r>
            <a:r>
              <a:rPr lang="pt-BR" dirty="0"/>
              <a:t>elementos criados a partir da classe (objetos criados a partir do molde).</a:t>
            </a:r>
          </a:p>
        </p:txBody>
      </p:sp>
      <p:pic>
        <p:nvPicPr>
          <p:cNvPr id="2050" name="Picture 2" descr="Forma de Acetato Bombom Coração Lapidado N9835 - Bwb - Maria Chocolate -  Cursos de Confeitaria, Artigos e Decoração para Festas e Casamentos, Barras  de Chocolate, Bolos e muito mais! - Maria Chocolate">
            <a:extLst>
              <a:ext uri="{FF2B5EF4-FFF2-40B4-BE49-F238E27FC236}">
                <a16:creationId xmlns:a16="http://schemas.microsoft.com/office/drawing/2014/main" id="{E7284350-BC21-17CE-3CA5-F38D74F82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700" y="2403335"/>
            <a:ext cx="3275925" cy="2456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eta: para a Direita 1">
            <a:extLst>
              <a:ext uri="{FF2B5EF4-FFF2-40B4-BE49-F238E27FC236}">
                <a16:creationId xmlns:a16="http://schemas.microsoft.com/office/drawing/2014/main" id="{466FFD53-75FE-6C94-7F9A-A959F6945301}"/>
              </a:ext>
            </a:extLst>
          </p:cNvPr>
          <p:cNvSpPr/>
          <p:nvPr/>
        </p:nvSpPr>
        <p:spPr>
          <a:xfrm>
            <a:off x="3839960" y="2860675"/>
            <a:ext cx="1422784" cy="7321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7B56B8D-2422-0368-B91E-0EE609539C81}"/>
              </a:ext>
            </a:extLst>
          </p:cNvPr>
          <p:cNvSpPr txBox="1"/>
          <p:nvPr/>
        </p:nvSpPr>
        <p:spPr>
          <a:xfrm>
            <a:off x="3756121" y="3773092"/>
            <a:ext cx="1631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accent4">
                    <a:lumMod val="75000"/>
                  </a:schemeClr>
                </a:solidFill>
              </a:rPr>
              <a:t>instanciar</a:t>
            </a:r>
            <a:endParaRPr lang="pt-BR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2052" name="Picture 4" descr="Forma BWB Bombom Coração Lapidado 6g (Ref: 9835) - Unitário - Azure  Embalagens">
            <a:extLst>
              <a:ext uri="{FF2B5EF4-FFF2-40B4-BE49-F238E27FC236}">
                <a16:creationId xmlns:a16="http://schemas.microsoft.com/office/drawing/2014/main" id="{BA46606A-AB72-8B01-2FD5-1BC8F1FF2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9119" y="2709729"/>
            <a:ext cx="2126725" cy="212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3045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4261e1cd0b_2_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Tópicos a serem trabalhados </a:t>
            </a:r>
            <a:r>
              <a:rPr lang="pt-BR"/>
              <a:t>na aula</a:t>
            </a:r>
            <a:endParaRPr dirty="0"/>
          </a:p>
        </p:txBody>
      </p:sp>
      <p:sp>
        <p:nvSpPr>
          <p:cNvPr id="76" name="Google Shape;76;g14261e1cd0b_2_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Classes de objetos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>
                <a:highlight>
                  <a:srgbClr val="C0C0C0"/>
                </a:highlight>
              </a:rPr>
              <a:t>Atributos ou propriedades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Métodos, operações ou comportamentos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Visibilidade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Herança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Polimorfismo</a:t>
            </a:r>
          </a:p>
        </p:txBody>
      </p:sp>
    </p:spTree>
    <p:extLst>
      <p:ext uri="{BB962C8B-B14F-4D97-AF65-F5344CB8AC3E}">
        <p14:creationId xmlns:p14="http://schemas.microsoft.com/office/powerpoint/2010/main" val="2509156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4261e1cd0b_2_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Tópicos a serem trabalhados </a:t>
            </a:r>
            <a:r>
              <a:rPr lang="pt-BR"/>
              <a:t>na aula</a:t>
            </a:r>
            <a:endParaRPr dirty="0"/>
          </a:p>
        </p:txBody>
      </p:sp>
      <p:sp>
        <p:nvSpPr>
          <p:cNvPr id="76" name="Google Shape;76;g14261e1cd0b_2_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Classes de objetos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>
                <a:highlight>
                  <a:srgbClr val="C0C0C0"/>
                </a:highlight>
              </a:rPr>
              <a:t>Atributos ou propriedades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Métodos, operações ou comportamentos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Visibilidade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Herança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Polimorfismo</a:t>
            </a:r>
          </a:p>
        </p:txBody>
      </p:sp>
    </p:spTree>
    <p:extLst>
      <p:ext uri="{BB962C8B-B14F-4D97-AF65-F5344CB8AC3E}">
        <p14:creationId xmlns:p14="http://schemas.microsoft.com/office/powerpoint/2010/main" val="1937070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4261e1cd0b_2_35"/>
          <p:cNvSpPr txBox="1">
            <a:spLocks noGrp="1"/>
          </p:cNvSpPr>
          <p:nvPr>
            <p:ph type="title"/>
          </p:nvPr>
        </p:nvSpPr>
        <p:spPr>
          <a:xfrm>
            <a:off x="311700" y="42074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Atributos ou propriedades</a:t>
            </a:r>
            <a:endParaRPr dirty="0"/>
          </a:p>
        </p:txBody>
      </p:sp>
      <p:sp>
        <p:nvSpPr>
          <p:cNvPr id="76" name="Google Shape;76;g14261e1cd0b_2_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dirty="0"/>
              <a:t>Representam as características de uma classe. São informações que costumam variar de um objeto para outro e que permitem diferenciar um objeto de outro da mesma classe.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dirty="0">
                <a:solidFill>
                  <a:schemeClr val="accent1"/>
                </a:solidFill>
              </a:rPr>
              <a:t>Tipos de dado: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 err="1"/>
              <a:t>int</a:t>
            </a:r>
            <a:r>
              <a:rPr lang="pt-BR" dirty="0"/>
              <a:t> – valores inteiros;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 err="1"/>
              <a:t>float</a:t>
            </a:r>
            <a:r>
              <a:rPr lang="pt-BR" dirty="0"/>
              <a:t> – valores reais;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 err="1"/>
              <a:t>string</a:t>
            </a:r>
            <a:r>
              <a:rPr lang="pt-BR" dirty="0"/>
              <a:t> – palavras, frases, caracteres;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date – data.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33B44D6-8E98-1A4B-D2BE-D21BD86161BE}"/>
              </a:ext>
            </a:extLst>
          </p:cNvPr>
          <p:cNvSpPr/>
          <p:nvPr/>
        </p:nvSpPr>
        <p:spPr>
          <a:xfrm>
            <a:off x="2144390" y="2231126"/>
            <a:ext cx="4029833" cy="68124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Nome : tipo de dado armazenado.</a:t>
            </a:r>
          </a:p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267745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4261e1cd0b_2_35"/>
          <p:cNvSpPr txBox="1">
            <a:spLocks noGrp="1"/>
          </p:cNvSpPr>
          <p:nvPr>
            <p:ph type="title"/>
          </p:nvPr>
        </p:nvSpPr>
        <p:spPr>
          <a:xfrm>
            <a:off x="311700" y="42074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Atributos ou propriedades</a:t>
            </a:r>
            <a:endParaRPr dirty="0"/>
          </a:p>
        </p:txBody>
      </p:sp>
      <p:sp>
        <p:nvSpPr>
          <p:cNvPr id="76" name="Google Shape;76;g14261e1cd0b_2_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7351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b="1" dirty="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dirty="0">
                <a:solidFill>
                  <a:schemeClr val="accent1"/>
                </a:solidFill>
              </a:rPr>
              <a:t>Tipos de dado: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 err="1"/>
              <a:t>int</a:t>
            </a:r>
            <a:r>
              <a:rPr lang="pt-BR" dirty="0"/>
              <a:t> – valores inteiros;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 err="1"/>
              <a:t>float</a:t>
            </a:r>
            <a:r>
              <a:rPr lang="pt-BR" dirty="0"/>
              <a:t> – valores reais;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 err="1"/>
              <a:t>string</a:t>
            </a:r>
            <a:r>
              <a:rPr lang="pt-BR" dirty="0"/>
              <a:t> – palavras, frases, caracteres.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33B44D6-8E98-1A4B-D2BE-D21BD86161BE}"/>
              </a:ext>
            </a:extLst>
          </p:cNvPr>
          <p:cNvSpPr/>
          <p:nvPr/>
        </p:nvSpPr>
        <p:spPr>
          <a:xfrm>
            <a:off x="4610955" y="1428226"/>
            <a:ext cx="4029833" cy="226577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Atributos da classe Bombom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pt-BR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Nome : tipo de dado armazenado.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sabor: </a:t>
            </a:r>
            <a:r>
              <a:rPr lang="pt-BR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string</a:t>
            </a:r>
            <a:endParaRPr lang="pt-BR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recheio: </a:t>
            </a:r>
            <a:r>
              <a:rPr lang="pt-BR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string</a:t>
            </a:r>
            <a:endParaRPr lang="pt-BR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peso: </a:t>
            </a:r>
            <a:r>
              <a:rPr lang="pt-BR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float</a:t>
            </a:r>
            <a:endParaRPr lang="pt-BR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dataFabricacao</a:t>
            </a:r>
            <a:r>
              <a:rPr lang="pt-B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date.</a:t>
            </a:r>
            <a:endParaRPr lang="pt-BR" dirty="0"/>
          </a:p>
        </p:txBody>
      </p:sp>
      <p:pic>
        <p:nvPicPr>
          <p:cNvPr id="3" name="Picture 4" descr="Forma BWB Bombom Coração Lapidado 6g (Ref: 9835) - Unitário - Azure  Embalagens">
            <a:extLst>
              <a:ext uri="{FF2B5EF4-FFF2-40B4-BE49-F238E27FC236}">
                <a16:creationId xmlns:a16="http://schemas.microsoft.com/office/drawing/2014/main" id="{03B7D029-BEE5-0172-12D7-58E7918247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639" y="993448"/>
            <a:ext cx="2408439" cy="2408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62716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4261e1cd0b_2_35"/>
          <p:cNvSpPr txBox="1">
            <a:spLocks noGrp="1"/>
          </p:cNvSpPr>
          <p:nvPr>
            <p:ph type="title"/>
          </p:nvPr>
        </p:nvSpPr>
        <p:spPr>
          <a:xfrm>
            <a:off x="311700" y="42074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Métodos, operações ou comportamentos</a:t>
            </a:r>
            <a:endParaRPr dirty="0"/>
          </a:p>
        </p:txBody>
      </p:sp>
      <p:sp>
        <p:nvSpPr>
          <p:cNvPr id="76" name="Google Shape;76;g14261e1cd0b_2_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/>
              <a:t>Um método representa uma atividade que um objeto de uma classe pode executar.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/>
              <a:t>O método pode, ou não, receber parâmetros (pré-requisitos para que o método possa ser executado).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/>
              <a:t>O método pode, ou não, retornar valores (resultado da ação).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33B44D6-8E98-1A4B-D2BE-D21BD86161BE}"/>
              </a:ext>
            </a:extLst>
          </p:cNvPr>
          <p:cNvSpPr/>
          <p:nvPr/>
        </p:nvSpPr>
        <p:spPr>
          <a:xfrm>
            <a:off x="1035781" y="3412563"/>
            <a:ext cx="4029833" cy="68124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Nome()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80953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4261e1cd0b_2_35"/>
          <p:cNvSpPr txBox="1">
            <a:spLocks noGrp="1"/>
          </p:cNvSpPr>
          <p:nvPr>
            <p:ph type="title"/>
          </p:nvPr>
        </p:nvSpPr>
        <p:spPr>
          <a:xfrm>
            <a:off x="311700" y="42074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Métodos, operações ou comportamentos</a:t>
            </a:r>
            <a:endParaRPr dirty="0"/>
          </a:p>
        </p:txBody>
      </p:sp>
      <p:sp>
        <p:nvSpPr>
          <p:cNvPr id="76" name="Google Shape;76;g14261e1cd0b_2_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/>
              <a:t>Um método representa uma atividade que um objeto de uma classe pode executar.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33B44D6-8E98-1A4B-D2BE-D21BD86161BE}"/>
              </a:ext>
            </a:extLst>
          </p:cNvPr>
          <p:cNvSpPr/>
          <p:nvPr/>
        </p:nvSpPr>
        <p:spPr>
          <a:xfrm>
            <a:off x="4070293" y="2179426"/>
            <a:ext cx="4029833" cy="193941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Métodos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pt-BR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derreterChocolar</a:t>
            </a:r>
            <a:r>
              <a:rPr lang="pt-B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aplicarNasFormas</a:t>
            </a:r>
            <a:r>
              <a:rPr lang="pt-B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aplicarRecheio</a:t>
            </a:r>
            <a:r>
              <a:rPr lang="pt-B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embalar()</a:t>
            </a:r>
            <a:endParaRPr lang="pt-BR" dirty="0"/>
          </a:p>
        </p:txBody>
      </p:sp>
      <p:pic>
        <p:nvPicPr>
          <p:cNvPr id="3" name="Picture 4" descr="Forma BWB Bombom Coração Lapidado 6g (Ref: 9835) - Unitário - Azure  Embalagens">
            <a:extLst>
              <a:ext uri="{FF2B5EF4-FFF2-40B4-BE49-F238E27FC236}">
                <a16:creationId xmlns:a16="http://schemas.microsoft.com/office/drawing/2014/main" id="{C245ABFA-8AB6-0D81-E39F-A046D31E2E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731" y="2314313"/>
            <a:ext cx="2408439" cy="2408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23464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4261e1cd0b_2_35"/>
          <p:cNvSpPr txBox="1">
            <a:spLocks noGrp="1"/>
          </p:cNvSpPr>
          <p:nvPr>
            <p:ph type="title"/>
          </p:nvPr>
        </p:nvSpPr>
        <p:spPr>
          <a:xfrm>
            <a:off x="311700" y="42074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Classes</a:t>
            </a:r>
            <a:endParaRPr dirty="0"/>
          </a:p>
        </p:txBody>
      </p:sp>
      <p:sp>
        <p:nvSpPr>
          <p:cNvPr id="2" name="Chave Direita 1">
            <a:extLst>
              <a:ext uri="{FF2B5EF4-FFF2-40B4-BE49-F238E27FC236}">
                <a16:creationId xmlns:a16="http://schemas.microsoft.com/office/drawing/2014/main" id="{396B87CA-7B07-16EF-2F78-C81B7B783307}"/>
              </a:ext>
            </a:extLst>
          </p:cNvPr>
          <p:cNvSpPr/>
          <p:nvPr/>
        </p:nvSpPr>
        <p:spPr>
          <a:xfrm>
            <a:off x="2751292" y="1152475"/>
            <a:ext cx="186117" cy="457840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 b="1" dirty="0"/>
          </a:p>
        </p:txBody>
      </p:sp>
      <p:sp>
        <p:nvSpPr>
          <p:cNvPr id="4" name="Chave Direita 3">
            <a:extLst>
              <a:ext uri="{FF2B5EF4-FFF2-40B4-BE49-F238E27FC236}">
                <a16:creationId xmlns:a16="http://schemas.microsoft.com/office/drawing/2014/main" id="{79643327-B861-8C90-1FF3-413962573C7C}"/>
              </a:ext>
            </a:extLst>
          </p:cNvPr>
          <p:cNvSpPr/>
          <p:nvPr/>
        </p:nvSpPr>
        <p:spPr>
          <a:xfrm>
            <a:off x="2751292" y="1683143"/>
            <a:ext cx="186117" cy="1246174"/>
          </a:xfrm>
          <a:prstGeom prst="rightBrac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 b="1" dirty="0"/>
          </a:p>
        </p:txBody>
      </p:sp>
      <p:sp>
        <p:nvSpPr>
          <p:cNvPr id="5" name="Chave Direita 4">
            <a:extLst>
              <a:ext uri="{FF2B5EF4-FFF2-40B4-BE49-F238E27FC236}">
                <a16:creationId xmlns:a16="http://schemas.microsoft.com/office/drawing/2014/main" id="{B06BDE5D-3A21-78BD-399D-83266BEB3CE2}"/>
              </a:ext>
            </a:extLst>
          </p:cNvPr>
          <p:cNvSpPr/>
          <p:nvPr/>
        </p:nvSpPr>
        <p:spPr>
          <a:xfrm>
            <a:off x="2751292" y="2994052"/>
            <a:ext cx="186117" cy="1768397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1A873A8-E6C6-101D-F34E-A7615316CC3F}"/>
              </a:ext>
            </a:extLst>
          </p:cNvPr>
          <p:cNvSpPr txBox="1"/>
          <p:nvPr/>
        </p:nvSpPr>
        <p:spPr>
          <a:xfrm>
            <a:off x="2937409" y="1196545"/>
            <a:ext cx="1149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Nome conta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A70412A-9883-1118-55D6-DC1491831BA7}"/>
              </a:ext>
            </a:extLst>
          </p:cNvPr>
          <p:cNvSpPr txBox="1"/>
          <p:nvPr/>
        </p:nvSpPr>
        <p:spPr>
          <a:xfrm>
            <a:off x="2937409" y="2152341"/>
            <a:ext cx="801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Atributo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2ECDBCB-3654-6D7E-DB49-F891D15BF253}"/>
              </a:ext>
            </a:extLst>
          </p:cNvPr>
          <p:cNvSpPr txBox="1"/>
          <p:nvPr/>
        </p:nvSpPr>
        <p:spPr>
          <a:xfrm>
            <a:off x="2962397" y="3724361"/>
            <a:ext cx="7809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Método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23ED5345-CF25-FF6E-280E-C3E8DE39E1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109552"/>
            <a:ext cx="2338428" cy="3768999"/>
          </a:xfrm>
          <a:prstGeom prst="rect">
            <a:avLst/>
          </a:prstGeom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83C051A6-1AE3-C1D4-E2BF-067D9D499475}"/>
              </a:ext>
            </a:extLst>
          </p:cNvPr>
          <p:cNvSpPr txBox="1"/>
          <p:nvPr/>
        </p:nvSpPr>
        <p:spPr>
          <a:xfrm flipH="1">
            <a:off x="4087083" y="4199531"/>
            <a:ext cx="43197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chemeClr val="accent1"/>
                </a:solidFill>
              </a:rPr>
              <a:t>/ </a:t>
            </a:r>
            <a:r>
              <a:rPr lang="pt-BR" sz="2800" dirty="0"/>
              <a:t>indica atributo calculado</a:t>
            </a:r>
          </a:p>
        </p:txBody>
      </p:sp>
    </p:spTree>
    <p:extLst>
      <p:ext uri="{BB962C8B-B14F-4D97-AF65-F5344CB8AC3E}">
        <p14:creationId xmlns:p14="http://schemas.microsoft.com/office/powerpoint/2010/main" val="39856739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84653BF8-D132-F903-1826-E2D4AA191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4261e1cd0b_2_35">
            <a:extLst>
              <a:ext uri="{FF2B5EF4-FFF2-40B4-BE49-F238E27FC236}">
                <a16:creationId xmlns:a16="http://schemas.microsoft.com/office/drawing/2014/main" id="{12416F45-EE4C-AAA8-A0A1-6B32BD9CEB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Tópicos a serem trabalhados </a:t>
            </a:r>
            <a:r>
              <a:rPr lang="pt-BR"/>
              <a:t>na aula</a:t>
            </a:r>
            <a:endParaRPr dirty="0"/>
          </a:p>
        </p:txBody>
      </p:sp>
      <p:sp>
        <p:nvSpPr>
          <p:cNvPr id="76" name="Google Shape;76;g14261e1cd0b_2_35">
            <a:extLst>
              <a:ext uri="{FF2B5EF4-FFF2-40B4-BE49-F238E27FC236}">
                <a16:creationId xmlns:a16="http://schemas.microsoft.com/office/drawing/2014/main" id="{59B41AAB-07A3-6E26-FF29-6244F4F39D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>
                <a:highlight>
                  <a:srgbClr val="C0C0C0"/>
                </a:highlight>
              </a:rPr>
              <a:t>Multiplicidade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Papéis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Relacionamentos ou Associações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     &gt;&gt; Relações unárias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     &gt;&gt; Relações binárias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     &gt;&gt; Relações ternárias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041018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7687AC72-D952-D244-F717-B278C4061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4261e1cd0b_2_35">
            <a:extLst>
              <a:ext uri="{FF2B5EF4-FFF2-40B4-BE49-F238E27FC236}">
                <a16:creationId xmlns:a16="http://schemas.microsoft.com/office/drawing/2014/main" id="{33D2694E-4E2F-7508-100A-3A7147A25C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Multiplicidade</a:t>
            </a:r>
            <a:endParaRPr dirty="0"/>
          </a:p>
        </p:txBody>
      </p:sp>
      <p:sp>
        <p:nvSpPr>
          <p:cNvPr id="76" name="Google Shape;76;g14261e1cd0b_2_35">
            <a:extLst>
              <a:ext uri="{FF2B5EF4-FFF2-40B4-BE49-F238E27FC236}">
                <a16:creationId xmlns:a16="http://schemas.microsoft.com/office/drawing/2014/main" id="{31528DB2-207F-EC66-3F67-979DC429E5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39864" y="1152475"/>
            <a:ext cx="8492435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Determina o número mínimo e máximo de objetos envolvidos em cada extremidade da associação. Adicionalmente, especifica o nível de dependência de  um objeto para com os outros envolvidos na associação.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18F0A1C-0989-0C05-3AAB-E8E504181B71}"/>
              </a:ext>
            </a:extLst>
          </p:cNvPr>
          <p:cNvSpPr txBox="1"/>
          <p:nvPr/>
        </p:nvSpPr>
        <p:spPr>
          <a:xfrm>
            <a:off x="2407537" y="3189944"/>
            <a:ext cx="17187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chemeClr val="accent1"/>
                </a:solidFill>
              </a:rPr>
              <a:t>(mínimo, máximo)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02FCA74-A65E-5593-BF5E-6F92F9244CF1}"/>
              </a:ext>
            </a:extLst>
          </p:cNvPr>
          <p:cNvSpPr txBox="1"/>
          <p:nvPr/>
        </p:nvSpPr>
        <p:spPr>
          <a:xfrm>
            <a:off x="4760548" y="3189943"/>
            <a:ext cx="17187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chemeClr val="accent4"/>
                </a:solidFill>
              </a:rPr>
              <a:t>(mínimo, máximo)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8489EB6-89A8-BB2C-D92A-2C04CECDD7C2}"/>
              </a:ext>
            </a:extLst>
          </p:cNvPr>
          <p:cNvSpPr/>
          <p:nvPr/>
        </p:nvSpPr>
        <p:spPr>
          <a:xfrm>
            <a:off x="311700" y="3051835"/>
            <a:ext cx="2095837" cy="891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C80A6D0-DB34-306D-5998-13FDE0C2EED2}"/>
              </a:ext>
            </a:extLst>
          </p:cNvPr>
          <p:cNvSpPr/>
          <p:nvPr/>
        </p:nvSpPr>
        <p:spPr>
          <a:xfrm>
            <a:off x="6453399" y="3051834"/>
            <a:ext cx="2095837" cy="89177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3E78DC27-9946-7D93-557B-746A7CC59252}"/>
              </a:ext>
            </a:extLst>
          </p:cNvPr>
          <p:cNvCxnSpPr>
            <a:stCxn id="6" idx="3"/>
            <a:endCxn id="7" idx="1"/>
          </p:cNvCxnSpPr>
          <p:nvPr/>
        </p:nvCxnSpPr>
        <p:spPr>
          <a:xfrm flipV="1">
            <a:off x="2407537" y="3497722"/>
            <a:ext cx="4045862" cy="1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8900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26F77-C417-0188-C53A-22F2A5793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17EFEA-DF54-EBF8-5B9F-E7F6DF6BC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Multiplicidade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B6C132F-D2E1-E8DA-0D77-DF9DA40126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5CCB608-ED9A-76F6-99A4-9306CA6536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718" y="1308122"/>
            <a:ext cx="5729161" cy="90406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AD6469F-A42F-92AC-2AD7-B8A601B47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2475" y="2718183"/>
            <a:ext cx="6024993" cy="987969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3213FEB-E23E-153E-5519-12CCB696C7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485" y="3991025"/>
            <a:ext cx="6435711" cy="108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3275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C0360716-2DCD-8BCB-3821-2470B8622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4261e1cd0b_2_35">
            <a:extLst>
              <a:ext uri="{FF2B5EF4-FFF2-40B4-BE49-F238E27FC236}">
                <a16:creationId xmlns:a16="http://schemas.microsoft.com/office/drawing/2014/main" id="{BC645BD6-FC3B-176C-83E6-526F35FE7F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Multiplicidade</a:t>
            </a:r>
            <a:endParaRPr dirty="0"/>
          </a:p>
        </p:txBody>
      </p:sp>
      <p:sp>
        <p:nvSpPr>
          <p:cNvPr id="76" name="Google Shape;76;g14261e1cd0b_2_35">
            <a:extLst>
              <a:ext uri="{FF2B5EF4-FFF2-40B4-BE49-F238E27FC236}">
                <a16:creationId xmlns:a16="http://schemas.microsoft.com/office/drawing/2014/main" id="{31D57218-3A47-5C11-9840-0583472B2F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F8BD030-3030-9502-E9D7-3049D0E74A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1928" y="1672977"/>
            <a:ext cx="3105150" cy="20193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AB8CADC-7E92-0A3A-6D34-15A7DBBB4F34}"/>
              </a:ext>
            </a:extLst>
          </p:cNvPr>
          <p:cNvSpPr txBox="1"/>
          <p:nvPr/>
        </p:nvSpPr>
        <p:spPr>
          <a:xfrm flipH="1">
            <a:off x="311700" y="3896989"/>
            <a:ext cx="8520599" cy="1015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2000" dirty="0"/>
              <a:t>Um funcionário pode chefiar nenhum(0) ou muitos (*) funcionários . Como não há multiplicidade na outra extremidade da associação, define-se a multiplicidade como 1:1.</a:t>
            </a:r>
          </a:p>
        </p:txBody>
      </p:sp>
    </p:spTree>
    <p:extLst>
      <p:ext uri="{BB962C8B-B14F-4D97-AF65-F5344CB8AC3E}">
        <p14:creationId xmlns:p14="http://schemas.microsoft.com/office/powerpoint/2010/main" val="3879847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11B328D8-595C-2035-47EC-0F0135B8F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4261e1cd0b_2_35">
            <a:extLst>
              <a:ext uri="{FF2B5EF4-FFF2-40B4-BE49-F238E27FC236}">
                <a16:creationId xmlns:a16="http://schemas.microsoft.com/office/drawing/2014/main" id="{0C6C8B55-DE06-2398-D9DF-305195558A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Multiplicidade</a:t>
            </a:r>
            <a:endParaRPr dirty="0"/>
          </a:p>
        </p:txBody>
      </p:sp>
      <p:graphicFrame>
        <p:nvGraphicFramePr>
          <p:cNvPr id="2" name="Tabela 4">
            <a:extLst>
              <a:ext uri="{FF2B5EF4-FFF2-40B4-BE49-F238E27FC236}">
                <a16:creationId xmlns:a16="http://schemas.microsoft.com/office/drawing/2014/main" id="{5BCB5662-7467-7BC2-1DBC-6860D05CF73E}"/>
              </a:ext>
            </a:extLst>
          </p:cNvPr>
          <p:cNvGraphicFramePr>
            <a:graphicFrameLocks noGrp="1"/>
          </p:cNvGraphicFramePr>
          <p:nvPr/>
        </p:nvGraphicFramePr>
        <p:xfrm>
          <a:off x="311700" y="1131601"/>
          <a:ext cx="8597632" cy="3566874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776046">
                  <a:extLst>
                    <a:ext uri="{9D8B030D-6E8A-4147-A177-3AD203B41FA5}">
                      <a16:colId xmlns:a16="http://schemas.microsoft.com/office/drawing/2014/main" val="551982866"/>
                    </a:ext>
                  </a:extLst>
                </a:gridCol>
                <a:gridCol w="6821586">
                  <a:extLst>
                    <a:ext uri="{9D8B030D-6E8A-4147-A177-3AD203B41FA5}">
                      <a16:colId xmlns:a16="http://schemas.microsoft.com/office/drawing/2014/main" val="3810858476"/>
                    </a:ext>
                  </a:extLst>
                </a:gridCol>
              </a:tblGrid>
              <a:tr h="562379">
                <a:tc>
                  <a:txBody>
                    <a:bodyPr/>
                    <a:lstStyle/>
                    <a:p>
                      <a:r>
                        <a:rPr lang="pt-BR" sz="1800" dirty="0"/>
                        <a:t>Multiplicidade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/>
                        <a:t>Significado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8738014"/>
                  </a:ext>
                </a:extLst>
              </a:tr>
              <a:tr h="600899">
                <a:tc>
                  <a:txBody>
                    <a:bodyPr/>
                    <a:lstStyle/>
                    <a:p>
                      <a:r>
                        <a:rPr lang="pt-BR" sz="1800" dirty="0"/>
                        <a:t>0..1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/>
                        <a:t>Mínimo 0, máximo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7893246"/>
                  </a:ext>
                </a:extLst>
              </a:tr>
              <a:tr h="600899">
                <a:tc>
                  <a:txBody>
                    <a:bodyPr/>
                    <a:lstStyle/>
                    <a:p>
                      <a:r>
                        <a:rPr lang="pt-BR" sz="1800" dirty="0"/>
                        <a:t>1..1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/>
                        <a:t>Mínimo 1, máximo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986216"/>
                  </a:ext>
                </a:extLst>
              </a:tr>
              <a:tr h="600899">
                <a:tc>
                  <a:txBody>
                    <a:bodyPr/>
                    <a:lstStyle/>
                    <a:p>
                      <a:r>
                        <a:rPr lang="pt-BR" sz="1800" dirty="0"/>
                        <a:t>0..*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/>
                        <a:t>Mínimo 0, Máximo muitos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0293752"/>
                  </a:ext>
                </a:extLst>
              </a:tr>
              <a:tr h="600899">
                <a:tc>
                  <a:txBody>
                    <a:bodyPr/>
                    <a:lstStyle/>
                    <a:p>
                      <a:r>
                        <a:rPr lang="pt-BR" sz="1800" dirty="0"/>
                        <a:t>1..*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/>
                        <a:t>Mínimo 1, máximo muitos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7651475"/>
                  </a:ext>
                </a:extLst>
              </a:tr>
              <a:tr h="600899">
                <a:tc>
                  <a:txBody>
                    <a:bodyPr/>
                    <a:lstStyle/>
                    <a:p>
                      <a:r>
                        <a:rPr lang="pt-BR" sz="1800" dirty="0"/>
                        <a:t>3..5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/>
                        <a:t>Mínimo 3, máximo 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8826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07774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49B25780-EB03-19BA-6FBD-AC27D8D74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4261e1cd0b_2_35">
            <a:extLst>
              <a:ext uri="{FF2B5EF4-FFF2-40B4-BE49-F238E27FC236}">
                <a16:creationId xmlns:a16="http://schemas.microsoft.com/office/drawing/2014/main" id="{79A720AC-9C17-CC7E-7EBB-187D23DC43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Tópicos a serem trabalhados </a:t>
            </a:r>
            <a:r>
              <a:rPr lang="pt-BR"/>
              <a:t>na aula</a:t>
            </a:r>
            <a:endParaRPr dirty="0"/>
          </a:p>
        </p:txBody>
      </p:sp>
      <p:sp>
        <p:nvSpPr>
          <p:cNvPr id="76" name="Google Shape;76;g14261e1cd0b_2_35">
            <a:extLst>
              <a:ext uri="{FF2B5EF4-FFF2-40B4-BE49-F238E27FC236}">
                <a16:creationId xmlns:a16="http://schemas.microsoft.com/office/drawing/2014/main" id="{2579537C-FAA9-1F32-E24E-8DBD0267E1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Diagrama de classes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Atributos ou métodos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Classes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Multiplicidade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>
                <a:highlight>
                  <a:srgbClr val="C0C0C0"/>
                </a:highlight>
              </a:rPr>
              <a:t>Papéis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Relacionamentos ou Associações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     &gt;&gt; Relações unárias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     &gt;&gt; Relações binárias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     &gt;&gt; Relações ternárias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15736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8791C780-6053-6A31-F5AA-CACDDD7DB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4261e1cd0b_2_35">
            <a:extLst>
              <a:ext uri="{FF2B5EF4-FFF2-40B4-BE49-F238E27FC236}">
                <a16:creationId xmlns:a16="http://schemas.microsoft.com/office/drawing/2014/main" id="{B4919884-47B0-66D5-7772-82FFB76790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Papéis</a:t>
            </a:r>
            <a:endParaRPr dirty="0"/>
          </a:p>
        </p:txBody>
      </p:sp>
      <p:sp>
        <p:nvSpPr>
          <p:cNvPr id="76" name="Google Shape;76;g14261e1cd0b_2_35">
            <a:extLst>
              <a:ext uri="{FF2B5EF4-FFF2-40B4-BE49-F238E27FC236}">
                <a16:creationId xmlns:a16="http://schemas.microsoft.com/office/drawing/2014/main" id="{A5ABE6F8-9545-AC1E-508B-45A5766591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39864" y="1152475"/>
            <a:ext cx="8492435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Informações adicionais na associação que podem ajudar a explicar a função de um objeto.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93682E5-C088-360F-4F3E-22A9960BE2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5652" y="2360387"/>
            <a:ext cx="3505200" cy="1895475"/>
          </a:xfrm>
          <a:prstGeom prst="rect">
            <a:avLst/>
          </a:prstGeom>
        </p:spPr>
      </p:pic>
      <p:sp>
        <p:nvSpPr>
          <p:cNvPr id="2" name="Elipse 1">
            <a:extLst>
              <a:ext uri="{FF2B5EF4-FFF2-40B4-BE49-F238E27FC236}">
                <a16:creationId xmlns:a16="http://schemas.microsoft.com/office/drawing/2014/main" id="{6391C6A3-1381-195B-66A0-9A72238D7C47}"/>
              </a:ext>
            </a:extLst>
          </p:cNvPr>
          <p:cNvSpPr/>
          <p:nvPr/>
        </p:nvSpPr>
        <p:spPr>
          <a:xfrm>
            <a:off x="3866606" y="2571750"/>
            <a:ext cx="1123405" cy="33691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35394AAD-D95B-7BB1-FFAB-F96290B8C425}"/>
              </a:ext>
            </a:extLst>
          </p:cNvPr>
          <p:cNvSpPr/>
          <p:nvPr/>
        </p:nvSpPr>
        <p:spPr>
          <a:xfrm>
            <a:off x="4781006" y="3629835"/>
            <a:ext cx="608290" cy="33691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93520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D8C948D4-B1CE-7DF8-709B-FB0DE6758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4261e1cd0b_2_35">
            <a:extLst>
              <a:ext uri="{FF2B5EF4-FFF2-40B4-BE49-F238E27FC236}">
                <a16:creationId xmlns:a16="http://schemas.microsoft.com/office/drawing/2014/main" id="{B81EC546-8210-3A47-BDBD-C7F9BB0C50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Tópicos a serem trabalhados </a:t>
            </a:r>
            <a:r>
              <a:rPr lang="pt-BR"/>
              <a:t>na aula</a:t>
            </a:r>
            <a:endParaRPr dirty="0"/>
          </a:p>
        </p:txBody>
      </p:sp>
      <p:sp>
        <p:nvSpPr>
          <p:cNvPr id="76" name="Google Shape;76;g14261e1cd0b_2_35">
            <a:extLst>
              <a:ext uri="{FF2B5EF4-FFF2-40B4-BE49-F238E27FC236}">
                <a16:creationId xmlns:a16="http://schemas.microsoft.com/office/drawing/2014/main" id="{7B3844DD-8D96-4583-AA6A-0FEA71B476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Diagrama de classes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Atributos ou métodos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Classes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Multiplicidade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Papéis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>
                <a:highlight>
                  <a:srgbClr val="C0C0C0"/>
                </a:highlight>
              </a:rPr>
              <a:t>Relacionamentos ou Associações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     &gt;&gt; Relações unárias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     &gt;&gt; Relações binárias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     &gt;&gt; Relações ternárias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705789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0CA4CE84-07A0-7E43-8F9D-3628CBC33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4261e1cd0b_2_35">
            <a:extLst>
              <a:ext uri="{FF2B5EF4-FFF2-40B4-BE49-F238E27FC236}">
                <a16:creationId xmlns:a16="http://schemas.microsoft.com/office/drawing/2014/main" id="{2A61794C-B463-CC8E-D9F0-894D735AA5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Relacionamentos e associações</a:t>
            </a:r>
            <a:endParaRPr dirty="0"/>
          </a:p>
        </p:txBody>
      </p:sp>
      <p:sp>
        <p:nvSpPr>
          <p:cNvPr id="76" name="Google Shape;76;g14261e1cd0b_2_35">
            <a:extLst>
              <a:ext uri="{FF2B5EF4-FFF2-40B4-BE49-F238E27FC236}">
                <a16:creationId xmlns:a16="http://schemas.microsoft.com/office/drawing/2014/main" id="{59AB1108-7E25-908F-DB1B-227DA490A7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9" y="1152475"/>
            <a:ext cx="8710919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Os relacionamentos, também chamados de associações, permitem que as classes compartilhem informações entre si. As associações são representadas por linhas representando as classes envolvidas.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</p:txBody>
      </p:sp>
      <p:graphicFrame>
        <p:nvGraphicFramePr>
          <p:cNvPr id="3" name="Tabela 3">
            <a:extLst>
              <a:ext uri="{FF2B5EF4-FFF2-40B4-BE49-F238E27FC236}">
                <a16:creationId xmlns:a16="http://schemas.microsoft.com/office/drawing/2014/main" id="{A52A8239-091A-E3DD-1CF4-4FA2F78280F1}"/>
              </a:ext>
            </a:extLst>
          </p:cNvPr>
          <p:cNvGraphicFramePr>
            <a:graphicFrameLocks noGrp="1"/>
          </p:cNvGraphicFramePr>
          <p:nvPr/>
        </p:nvGraphicFramePr>
        <p:xfrm>
          <a:off x="444137" y="2802305"/>
          <a:ext cx="7977051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9017">
                  <a:extLst>
                    <a:ext uri="{9D8B030D-6E8A-4147-A177-3AD203B41FA5}">
                      <a16:colId xmlns:a16="http://schemas.microsoft.com/office/drawing/2014/main" val="25399837"/>
                    </a:ext>
                  </a:extLst>
                </a:gridCol>
                <a:gridCol w="2659017">
                  <a:extLst>
                    <a:ext uri="{9D8B030D-6E8A-4147-A177-3AD203B41FA5}">
                      <a16:colId xmlns:a16="http://schemas.microsoft.com/office/drawing/2014/main" val="2213524534"/>
                    </a:ext>
                  </a:extLst>
                </a:gridCol>
                <a:gridCol w="2659017">
                  <a:extLst>
                    <a:ext uri="{9D8B030D-6E8A-4147-A177-3AD203B41FA5}">
                      <a16:colId xmlns:a16="http://schemas.microsoft.com/office/drawing/2014/main" val="462963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solidFill>
                            <a:schemeClr val="tx1"/>
                          </a:solidFill>
                        </a:rPr>
                        <a:t>Associações unárias/ Reflexivas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solidFill>
                            <a:schemeClr val="tx1"/>
                          </a:solidFill>
                        </a:rPr>
                        <a:t>Associações binárias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solidFill>
                            <a:schemeClr val="tx1"/>
                          </a:solidFill>
                        </a:rPr>
                        <a:t>Relações ternárias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84122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69033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F4258D60-E170-D3A7-EED2-15391397D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4261e1cd0b_2_35">
            <a:extLst>
              <a:ext uri="{FF2B5EF4-FFF2-40B4-BE49-F238E27FC236}">
                <a16:creationId xmlns:a16="http://schemas.microsoft.com/office/drawing/2014/main" id="{ABDCB462-265C-2FBC-315E-FE335CAD35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Tópicos a serem trabalhados </a:t>
            </a:r>
            <a:r>
              <a:rPr lang="pt-BR"/>
              <a:t>na aula</a:t>
            </a:r>
            <a:endParaRPr dirty="0"/>
          </a:p>
        </p:txBody>
      </p:sp>
      <p:sp>
        <p:nvSpPr>
          <p:cNvPr id="76" name="Google Shape;76;g14261e1cd0b_2_35">
            <a:extLst>
              <a:ext uri="{FF2B5EF4-FFF2-40B4-BE49-F238E27FC236}">
                <a16:creationId xmlns:a16="http://schemas.microsoft.com/office/drawing/2014/main" id="{3A18A319-9FDD-C2BE-4729-374358665F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Diagrama de classes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Atributos ou métodos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Classes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Multiplicidade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Papéis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Relacionamentos ou Associações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     &gt;&gt; </a:t>
            </a:r>
            <a:r>
              <a:rPr lang="pt-BR" dirty="0">
                <a:highlight>
                  <a:srgbClr val="C0C0C0"/>
                </a:highlight>
              </a:rPr>
              <a:t>Relações unárias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     &gt;&gt; Relações binárias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     &gt;&gt; Relações ternárias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813784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539913DE-D8F1-0705-D890-FF6C51244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4261e1cd0b_2_35">
            <a:extLst>
              <a:ext uri="{FF2B5EF4-FFF2-40B4-BE49-F238E27FC236}">
                <a16:creationId xmlns:a16="http://schemas.microsoft.com/office/drawing/2014/main" id="{210A6CB5-6C7A-7830-6109-FC92DEE99A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Associação unária ou reflexiva</a:t>
            </a:r>
            <a:endParaRPr dirty="0"/>
          </a:p>
        </p:txBody>
      </p:sp>
      <p:sp>
        <p:nvSpPr>
          <p:cNvPr id="76" name="Google Shape;76;g14261e1cd0b_2_35">
            <a:extLst>
              <a:ext uri="{FF2B5EF4-FFF2-40B4-BE49-F238E27FC236}">
                <a16:creationId xmlns:a16="http://schemas.microsoft.com/office/drawing/2014/main" id="{217F6E80-F157-314B-F16D-6A26F2A04C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Ocorre quando existe o relacionamento de um objeto de uma classe com objetos da mesma classe.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616313F-0DF6-75C4-A93F-13EE41C4BB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9246" y="2244148"/>
            <a:ext cx="3467100" cy="225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8299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CBA332C4-5E79-4621-7A05-852D96BD3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4261e1cd0b_2_35">
            <a:extLst>
              <a:ext uri="{FF2B5EF4-FFF2-40B4-BE49-F238E27FC236}">
                <a16:creationId xmlns:a16="http://schemas.microsoft.com/office/drawing/2014/main" id="{700F6ECE-42CD-4FB3-6254-A74B767E95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Associação binária</a:t>
            </a:r>
            <a:endParaRPr dirty="0"/>
          </a:p>
        </p:txBody>
      </p:sp>
      <p:sp>
        <p:nvSpPr>
          <p:cNvPr id="76" name="Google Shape;76;g14261e1cd0b_2_35">
            <a:extLst>
              <a:ext uri="{FF2B5EF4-FFF2-40B4-BE49-F238E27FC236}">
                <a16:creationId xmlns:a16="http://schemas.microsoft.com/office/drawing/2014/main" id="{5C4ACDF9-4BD1-6986-A19E-253ECB4914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Ocorre quando são identificados relacionamentos entre objetos de duas classes distintas.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D8537E3-8A8D-E248-3B3B-3A18D71CE9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1166" y="1979850"/>
            <a:ext cx="6096000" cy="187642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EBE89FE0-1978-A1E0-9564-DDA0B7AAE315}"/>
              </a:ext>
            </a:extLst>
          </p:cNvPr>
          <p:cNvSpPr txBox="1"/>
          <p:nvPr/>
        </p:nvSpPr>
        <p:spPr>
          <a:xfrm>
            <a:off x="311700" y="3991025"/>
            <a:ext cx="82549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0" dirty="0"/>
              <a:t>Um objeto da classe sócio pode relacionar-se, ou não, com instâncias da classe dependente (multiplicidade 0,*). Já o objeto dependente deverá, obrigatoriamente, relacionar-se com um objeto da classe sócio.</a:t>
            </a:r>
          </a:p>
        </p:txBody>
      </p:sp>
    </p:spTree>
    <p:extLst>
      <p:ext uri="{BB962C8B-B14F-4D97-AF65-F5344CB8AC3E}">
        <p14:creationId xmlns:p14="http://schemas.microsoft.com/office/powerpoint/2010/main" val="12248498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C0D6BB3F-2F9E-23C4-82A7-BD65A8048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4261e1cd0b_2_35">
            <a:extLst>
              <a:ext uri="{FF2B5EF4-FFF2-40B4-BE49-F238E27FC236}">
                <a16:creationId xmlns:a16="http://schemas.microsoft.com/office/drawing/2014/main" id="{06E7F475-D1B4-64D0-9C50-AF966D0026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Tópicos a serem trabalhados </a:t>
            </a:r>
            <a:r>
              <a:rPr lang="pt-BR"/>
              <a:t>na aula</a:t>
            </a:r>
            <a:endParaRPr dirty="0"/>
          </a:p>
        </p:txBody>
      </p:sp>
      <p:sp>
        <p:nvSpPr>
          <p:cNvPr id="76" name="Google Shape;76;g14261e1cd0b_2_35">
            <a:extLst>
              <a:ext uri="{FF2B5EF4-FFF2-40B4-BE49-F238E27FC236}">
                <a16:creationId xmlns:a16="http://schemas.microsoft.com/office/drawing/2014/main" id="{CC459F40-12A0-2C5A-6330-8DB13F323E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Diagrama de classes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Atributos ou métodos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Classes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Multiplicidade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Papéis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Relacionamentos ou Associações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     &gt;&gt; Relações unárias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     &gt;&gt; Relações binárias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     &gt;&gt; </a:t>
            </a:r>
            <a:r>
              <a:rPr lang="pt-BR" dirty="0">
                <a:highlight>
                  <a:srgbClr val="C0C0C0"/>
                </a:highlight>
              </a:rPr>
              <a:t>Relações ternárias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155692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F9C007B8-BE4D-F22D-A63B-B3EFDD21C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4261e1cd0b_2_35">
            <a:extLst>
              <a:ext uri="{FF2B5EF4-FFF2-40B4-BE49-F238E27FC236}">
                <a16:creationId xmlns:a16="http://schemas.microsoft.com/office/drawing/2014/main" id="{E02A7500-F2E4-D9AA-EB22-771A122791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Associações ternárias ou </a:t>
            </a:r>
            <a:r>
              <a:rPr lang="pt-BR" dirty="0" err="1"/>
              <a:t>N-árias</a:t>
            </a:r>
            <a:endParaRPr dirty="0"/>
          </a:p>
        </p:txBody>
      </p:sp>
      <p:sp>
        <p:nvSpPr>
          <p:cNvPr id="76" name="Google Shape;76;g14261e1cd0b_2_35">
            <a:extLst>
              <a:ext uri="{FF2B5EF4-FFF2-40B4-BE49-F238E27FC236}">
                <a16:creationId xmlns:a16="http://schemas.microsoft.com/office/drawing/2014/main" id="{88D08763-248B-4062-E3A4-F32306D4DC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Associações que conectam objetos de duas ou mais classes 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65236B6-EE3D-40FD-1D4D-9041323E7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9370" y="1783825"/>
            <a:ext cx="5886450" cy="291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2813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4261e1cd0b_2_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Tópicos a serem trabalhados </a:t>
            </a:r>
            <a:r>
              <a:rPr lang="pt-BR"/>
              <a:t>na aula</a:t>
            </a:r>
            <a:endParaRPr dirty="0"/>
          </a:p>
        </p:txBody>
      </p:sp>
      <p:sp>
        <p:nvSpPr>
          <p:cNvPr id="76" name="Google Shape;76;g14261e1cd0b_2_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Classes de objetos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Atributos ou propriedades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Métodos, operações ou comportamentos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>
                <a:highlight>
                  <a:srgbClr val="C0C0C0"/>
                </a:highlight>
              </a:rPr>
              <a:t>Visibilidade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Herança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Polimorfismo</a:t>
            </a:r>
          </a:p>
        </p:txBody>
      </p:sp>
    </p:spTree>
    <p:extLst>
      <p:ext uri="{BB962C8B-B14F-4D97-AF65-F5344CB8AC3E}">
        <p14:creationId xmlns:p14="http://schemas.microsoft.com/office/powerpoint/2010/main" val="22729251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4261e1cd0b_2_35"/>
          <p:cNvSpPr txBox="1">
            <a:spLocks noGrp="1"/>
          </p:cNvSpPr>
          <p:nvPr>
            <p:ph type="title"/>
          </p:nvPr>
        </p:nvSpPr>
        <p:spPr>
          <a:xfrm>
            <a:off x="311700" y="42074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Visibilidade</a:t>
            </a:r>
            <a:endParaRPr dirty="0"/>
          </a:p>
        </p:txBody>
      </p:sp>
      <p:sp>
        <p:nvSpPr>
          <p:cNvPr id="76" name="Google Shape;76;g14261e1cd0b_2_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/>
              <a:t>A visibilidade indica o nível de acessibilidade de um determinado atributo ou método, sendo representada à esquerda destes.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33B44D6-8E98-1A4B-D2BE-D21BD86161BE}"/>
              </a:ext>
            </a:extLst>
          </p:cNvPr>
          <p:cNvSpPr/>
          <p:nvPr/>
        </p:nvSpPr>
        <p:spPr>
          <a:xfrm>
            <a:off x="445061" y="2163241"/>
            <a:ext cx="8253877" cy="27971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chemeClr val="accent4">
                    <a:lumMod val="75000"/>
                  </a:schemeClr>
                </a:solidFill>
              </a:rPr>
              <a:t>(-) privada </a:t>
            </a:r>
            <a:r>
              <a:rPr lang="pt-B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– significa que somente os objetos da classe  detentora do atributo ou método poderão enxergá-lo ou utilizá-lo.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chemeClr val="accent4">
                    <a:lumMod val="75000"/>
                  </a:schemeClr>
                </a:solidFill>
              </a:rPr>
              <a:t>(#) protegida </a:t>
            </a:r>
            <a:r>
              <a:rPr lang="pt-B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– determina que atributos e (ou) métodos poderão ser acessados pela classe detentora e também por suas subclasses.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chemeClr val="accent4">
                    <a:lumMod val="75000"/>
                  </a:schemeClr>
                </a:solidFill>
              </a:rPr>
              <a:t>(+) pública </a:t>
            </a:r>
            <a:r>
              <a:rPr lang="pt-B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– atributo ou método pode ser acessado por qualquer objeto.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chemeClr val="accent4">
                    <a:lumMod val="75000"/>
                  </a:schemeClr>
                </a:solidFill>
              </a:rPr>
              <a:t>(~) pacote </a:t>
            </a:r>
            <a:r>
              <a:rPr lang="pt-B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– determina que o atributo e(ou) método é visível para qualquer objeto dentro do pacote.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147064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4261e1cd0b_2_35"/>
          <p:cNvSpPr txBox="1">
            <a:spLocks noGrp="1"/>
          </p:cNvSpPr>
          <p:nvPr>
            <p:ph type="title"/>
          </p:nvPr>
        </p:nvSpPr>
        <p:spPr>
          <a:xfrm>
            <a:off x="311700" y="42074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Visibilidade</a:t>
            </a:r>
            <a:endParaRPr dirty="0"/>
          </a:p>
        </p:txBody>
      </p:sp>
      <p:sp>
        <p:nvSpPr>
          <p:cNvPr id="76" name="Google Shape;76;g14261e1cd0b_2_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316944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/>
              <a:t>No exemplo ao lado, os atributos foram definidos como tipo “privado” e os métodos como público.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pt-BR"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AFCAC83-94C1-C317-C687-737C82687513}"/>
              </a:ext>
            </a:extLst>
          </p:cNvPr>
          <p:cNvSpPr/>
          <p:nvPr/>
        </p:nvSpPr>
        <p:spPr>
          <a:xfrm>
            <a:off x="4802468" y="3277274"/>
            <a:ext cx="4029833" cy="12162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+ </a:t>
            </a:r>
            <a:r>
              <a:rPr lang="pt-BR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derreterChocolate</a:t>
            </a:r>
            <a:r>
              <a:rPr lang="pt-B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+ </a:t>
            </a:r>
            <a:r>
              <a:rPr lang="pt-BR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aplicarNasFormas</a:t>
            </a:r>
            <a:r>
              <a:rPr lang="pt-B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+ </a:t>
            </a:r>
            <a:r>
              <a:rPr lang="pt-BR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aplicarRecheio</a:t>
            </a:r>
            <a:r>
              <a:rPr lang="pt-B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+ embalar()</a:t>
            </a:r>
            <a:endParaRPr lang="pt-BR" sz="1100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5B8FE20-7B7F-B4AC-0F67-44D8E31138CE}"/>
              </a:ext>
            </a:extLst>
          </p:cNvPr>
          <p:cNvSpPr/>
          <p:nvPr/>
        </p:nvSpPr>
        <p:spPr>
          <a:xfrm>
            <a:off x="4802467" y="1352463"/>
            <a:ext cx="4029833" cy="3777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pt-BR" sz="1600" b="1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C0C0C0"/>
              </a:highlight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C0C0C0"/>
                </a:highlight>
              </a:rPr>
              <a:t>Bombom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pt-BR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4F4A9FCC-3E70-B95A-6F92-6FE8039DD1C3}"/>
              </a:ext>
            </a:extLst>
          </p:cNvPr>
          <p:cNvSpPr/>
          <p:nvPr/>
        </p:nvSpPr>
        <p:spPr>
          <a:xfrm>
            <a:off x="4802467" y="1730179"/>
            <a:ext cx="4029833" cy="15470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 sabor: </a:t>
            </a:r>
            <a:r>
              <a:rPr lang="pt-BR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string</a:t>
            </a:r>
            <a:endParaRPr lang="pt-B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 recheio: </a:t>
            </a:r>
            <a:r>
              <a:rPr lang="pt-BR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string</a:t>
            </a:r>
            <a:endParaRPr lang="pt-B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 peso: </a:t>
            </a:r>
            <a:r>
              <a:rPr lang="pt-BR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float</a:t>
            </a:r>
            <a:endParaRPr lang="pt-B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 </a:t>
            </a:r>
            <a:r>
              <a:rPr lang="pt-BR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dataFabricacao</a:t>
            </a:r>
            <a:r>
              <a:rPr lang="pt-B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date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0777300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4261e1cd0b_2_35"/>
          <p:cNvSpPr txBox="1">
            <a:spLocks noGrp="1"/>
          </p:cNvSpPr>
          <p:nvPr>
            <p:ph type="title"/>
          </p:nvPr>
        </p:nvSpPr>
        <p:spPr>
          <a:xfrm>
            <a:off x="311700" y="42074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Herança</a:t>
            </a:r>
            <a:endParaRPr dirty="0"/>
          </a:p>
        </p:txBody>
      </p:sp>
      <p:sp>
        <p:nvSpPr>
          <p:cNvPr id="76" name="Google Shape;76;g14261e1cd0b_2_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273072" cy="26193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/>
              <a:t>Permite o reaproveitamento de atributos e de métodos otimizando o tempo de desenvolvimento, além de permitir a diminuição de linhas de código e facilitar a manutenção.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pt-BR"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934407B-4C4C-D1C1-AE2E-3A5A4026D1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9057" y="1351073"/>
            <a:ext cx="4505325" cy="261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1264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4261e1cd0b_2_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Tópicos a serem trabalhados </a:t>
            </a:r>
            <a:r>
              <a:rPr lang="pt-BR"/>
              <a:t>na aula</a:t>
            </a:r>
            <a:endParaRPr dirty="0"/>
          </a:p>
        </p:txBody>
      </p:sp>
      <p:sp>
        <p:nvSpPr>
          <p:cNvPr id="76" name="Google Shape;76;g14261e1cd0b_2_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Classes de objetos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Atributos ou propriedades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Métodos, operações ou comportamentos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Visibilidade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>
                <a:highlight>
                  <a:srgbClr val="C0C0C0"/>
                </a:highlight>
              </a:rPr>
              <a:t>Herança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Polimorfismo</a:t>
            </a:r>
          </a:p>
        </p:txBody>
      </p:sp>
    </p:spTree>
    <p:extLst>
      <p:ext uri="{BB962C8B-B14F-4D97-AF65-F5344CB8AC3E}">
        <p14:creationId xmlns:p14="http://schemas.microsoft.com/office/powerpoint/2010/main" val="2522655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4261e1cd0b_2_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Tópicos a serem trabalhados </a:t>
            </a:r>
            <a:r>
              <a:rPr lang="pt-BR"/>
              <a:t>na aula</a:t>
            </a:r>
            <a:endParaRPr dirty="0"/>
          </a:p>
        </p:txBody>
      </p:sp>
      <p:sp>
        <p:nvSpPr>
          <p:cNvPr id="76" name="Google Shape;76;g14261e1cd0b_2_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Classes de objetos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Atributos ou propriedades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Métodos, operações ou comportamentos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Visibilidade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Herança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>
                <a:highlight>
                  <a:srgbClr val="C0C0C0"/>
                </a:highlight>
              </a:rPr>
              <a:t>Polimorfismo</a:t>
            </a:r>
          </a:p>
        </p:txBody>
      </p:sp>
    </p:spTree>
    <p:extLst>
      <p:ext uri="{BB962C8B-B14F-4D97-AF65-F5344CB8AC3E}">
        <p14:creationId xmlns:p14="http://schemas.microsoft.com/office/powerpoint/2010/main" val="15687389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4261e1cd0b_2_35"/>
          <p:cNvSpPr txBox="1">
            <a:spLocks noGrp="1"/>
          </p:cNvSpPr>
          <p:nvPr>
            <p:ph type="title"/>
          </p:nvPr>
        </p:nvSpPr>
        <p:spPr>
          <a:xfrm>
            <a:off x="311700" y="42074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Polimorfismo</a:t>
            </a:r>
            <a:endParaRPr dirty="0"/>
          </a:p>
        </p:txBody>
      </p:sp>
      <p:sp>
        <p:nvSpPr>
          <p:cNvPr id="76" name="Google Shape;76;g14261e1cd0b_2_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273072" cy="26193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/>
              <a:t>Conceito associado à herança. Realiza a </a:t>
            </a:r>
            <a:r>
              <a:rPr lang="pt-BR" sz="2000" dirty="0" err="1"/>
              <a:t>redeclaração</a:t>
            </a:r>
            <a:r>
              <a:rPr lang="pt-BR" sz="2000" dirty="0"/>
              <a:t> de métodos previamente herdados por uma classe.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/>
              <a:t>Esses métodos, embora semelhantes, diferem de alguma forma da implementação utilizada na superclasse.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pt-BR"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AA7F5B8-265B-C0FE-8F38-5EE926E794E8}"/>
              </a:ext>
            </a:extLst>
          </p:cNvPr>
          <p:cNvSpPr/>
          <p:nvPr/>
        </p:nvSpPr>
        <p:spPr>
          <a:xfrm>
            <a:off x="409618" y="3930877"/>
            <a:ext cx="8324764" cy="10809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Polimorfismo: </a:t>
            </a:r>
            <a:r>
              <a:rPr lang="pt-B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métodos com o mesmo nome mas que fazem ações parcialmente diferentes.</a:t>
            </a: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2956B6D-6B4A-8D4E-DB47-042E0B4537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7667" y="993448"/>
            <a:ext cx="4362450" cy="268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6024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4261e1cd0b_2_35"/>
          <p:cNvSpPr txBox="1">
            <a:spLocks noGrp="1"/>
          </p:cNvSpPr>
          <p:nvPr>
            <p:ph type="title"/>
          </p:nvPr>
        </p:nvSpPr>
        <p:spPr>
          <a:xfrm>
            <a:off x="311700" y="42074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Polimorfismo</a:t>
            </a:r>
            <a:endParaRPr dirty="0"/>
          </a:p>
        </p:txBody>
      </p:sp>
      <p:sp>
        <p:nvSpPr>
          <p:cNvPr id="76" name="Google Shape;76;g14261e1cd0b_2_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799054" cy="26193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b="1" dirty="0">
                <a:solidFill>
                  <a:schemeClr val="accent1"/>
                </a:solidFill>
              </a:rPr>
              <a:t>Locomover em mamífero: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dirty="0"/>
              <a:t>indica que o animal irá andar.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pt-BR" sz="2600" b="1" dirty="0">
              <a:solidFill>
                <a:schemeClr val="accent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b="1" dirty="0">
                <a:solidFill>
                  <a:schemeClr val="accent1"/>
                </a:solidFill>
              </a:rPr>
              <a:t>Locomoção em ave: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dirty="0"/>
              <a:t>indica que o animal irá voar.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pt-BR" sz="2600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pt-BR" sz="2600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dirty="0"/>
              <a:t>*Considerar que nem todos os tipos de mamíferos e aves serão registrados nesse sistema.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2956B6D-6B4A-8D4E-DB47-042E0B4537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7667" y="993448"/>
            <a:ext cx="4362450" cy="2686050"/>
          </a:xfrm>
          <a:prstGeom prst="rect">
            <a:avLst/>
          </a:prstGeom>
        </p:spPr>
      </p:pic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68A1AD82-CA1E-6E14-7E33-F646C0A91B12}"/>
              </a:ext>
            </a:extLst>
          </p:cNvPr>
          <p:cNvCxnSpPr/>
          <p:nvPr/>
        </p:nvCxnSpPr>
        <p:spPr>
          <a:xfrm>
            <a:off x="4377791" y="3495759"/>
            <a:ext cx="695915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D000B8B3-E7E9-931F-5771-55236AAD9AB3}"/>
              </a:ext>
            </a:extLst>
          </p:cNvPr>
          <p:cNvCxnSpPr/>
          <p:nvPr/>
        </p:nvCxnSpPr>
        <p:spPr>
          <a:xfrm>
            <a:off x="6828329" y="3495759"/>
            <a:ext cx="695915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46147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A74CE-E698-F970-D1A1-374FAEC8A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11E5BC-24D1-8ABB-0F6B-3A6BDDE09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Etapa 2 – </a:t>
            </a:r>
            <a:r>
              <a:rPr lang="en-US" dirty="0" err="1"/>
              <a:t>Conceitos</a:t>
            </a:r>
            <a:r>
              <a:rPr lang="en-US" dirty="0"/>
              <a:t> </a:t>
            </a:r>
            <a:r>
              <a:rPr lang="en-US" dirty="0" err="1"/>
              <a:t>avançados</a:t>
            </a:r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3018703-0581-48C9-0E8D-FCB33B6B45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5516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4261e1cd0b_2_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Tópicos a serem trabalhados na aula</a:t>
            </a:r>
            <a:endParaRPr dirty="0"/>
          </a:p>
        </p:txBody>
      </p:sp>
      <p:sp>
        <p:nvSpPr>
          <p:cNvPr id="76" name="Google Shape;76;g14261e1cd0b_2_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Dependências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-    Agregação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Composição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Generalização/ especialização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Classe associativa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82248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4261e1cd0b_2_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Tópicos a serem trabalhados na aula</a:t>
            </a:r>
            <a:endParaRPr dirty="0"/>
          </a:p>
        </p:txBody>
      </p:sp>
      <p:sp>
        <p:nvSpPr>
          <p:cNvPr id="76" name="Google Shape;76;g14261e1cd0b_2_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>
                <a:highlight>
                  <a:srgbClr val="C0C0C0"/>
                </a:highlight>
              </a:rPr>
              <a:t>Dependências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-    Agregação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Composição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Generalização/ especialização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Classe associativa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016455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4261e1cd0b_2_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Dependências</a:t>
            </a:r>
            <a:br>
              <a:rPr lang="pt-BR" dirty="0"/>
            </a:br>
            <a:endParaRPr dirty="0"/>
          </a:p>
        </p:txBody>
      </p:sp>
      <p:sp>
        <p:nvSpPr>
          <p:cNvPr id="76" name="Google Shape;76;g14261e1cd0b_2_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>
              <a:buNone/>
            </a:pPr>
            <a:r>
              <a:rPr lang="en-US" dirty="0"/>
              <a:t>Esse </a:t>
            </a:r>
            <a:r>
              <a:rPr lang="en-US" dirty="0" err="1"/>
              <a:t>relacionamento</a:t>
            </a:r>
            <a:r>
              <a:rPr lang="en-US" dirty="0"/>
              <a:t> indica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classe</a:t>
            </a:r>
            <a:r>
              <a:rPr lang="en-US" dirty="0"/>
              <a:t> </a:t>
            </a:r>
            <a:r>
              <a:rPr lang="en-US" dirty="0" err="1"/>
              <a:t>depende</a:t>
            </a:r>
            <a:r>
              <a:rPr lang="en-US" dirty="0"/>
              <a:t> de </a:t>
            </a:r>
            <a:r>
              <a:rPr lang="en-US" dirty="0" err="1"/>
              <a:t>outra</a:t>
            </a:r>
            <a:r>
              <a:rPr lang="en-US" dirty="0"/>
              <a:t>: </a:t>
            </a:r>
            <a:r>
              <a:rPr lang="en-US" dirty="0" err="1"/>
              <a:t>mudanças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classe</a:t>
            </a:r>
            <a:r>
              <a:rPr lang="en-US" dirty="0"/>
              <a:t> </a:t>
            </a:r>
            <a:r>
              <a:rPr lang="en-US" dirty="0" err="1"/>
              <a:t>fornecedora</a:t>
            </a:r>
            <a:r>
              <a:rPr lang="en-US" dirty="0"/>
              <a:t> </a:t>
            </a:r>
            <a:r>
              <a:rPr lang="en-US" dirty="0" err="1"/>
              <a:t>podem</a:t>
            </a:r>
            <a:r>
              <a:rPr lang="en-US" dirty="0"/>
              <a:t> </a:t>
            </a:r>
            <a:r>
              <a:rPr lang="en-US" dirty="0" err="1"/>
              <a:t>afetar</a:t>
            </a:r>
            <a:r>
              <a:rPr lang="en-US" dirty="0"/>
              <a:t> a </a:t>
            </a:r>
            <a:r>
              <a:rPr lang="en-US" dirty="0" err="1"/>
              <a:t>classe</a:t>
            </a:r>
            <a:r>
              <a:rPr lang="en-US" dirty="0"/>
              <a:t> </a:t>
            </a:r>
            <a:r>
              <a:rPr lang="en-US" dirty="0" err="1"/>
              <a:t>dependente</a:t>
            </a:r>
            <a:r>
              <a:rPr lang="en-US" dirty="0"/>
              <a:t>. É </a:t>
            </a:r>
            <a:r>
              <a:rPr lang="en-US" dirty="0" err="1"/>
              <a:t>representado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linha</a:t>
            </a:r>
            <a:r>
              <a:rPr lang="en-US" dirty="0"/>
              <a:t> </a:t>
            </a:r>
            <a:r>
              <a:rPr lang="en-US" dirty="0" err="1"/>
              <a:t>tracejada</a:t>
            </a:r>
            <a:r>
              <a:rPr lang="en-US" dirty="0"/>
              <a:t> com </a:t>
            </a:r>
            <a:r>
              <a:rPr lang="en-US" dirty="0" err="1"/>
              <a:t>uma</a:t>
            </a:r>
            <a:r>
              <a:rPr lang="en-US" dirty="0"/>
              <a:t> seta,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parte</a:t>
            </a:r>
            <a:r>
              <a:rPr lang="en-US" dirty="0"/>
              <a:t> da </a:t>
            </a:r>
            <a:r>
              <a:rPr lang="en-US" dirty="0" err="1"/>
              <a:t>classe</a:t>
            </a:r>
            <a:r>
              <a:rPr lang="en-US" dirty="0"/>
              <a:t> </a:t>
            </a:r>
            <a:r>
              <a:rPr lang="en-US" dirty="0" err="1"/>
              <a:t>dependente</a:t>
            </a:r>
            <a:r>
              <a:rPr lang="en-US" dirty="0"/>
              <a:t> e </a:t>
            </a:r>
            <a:r>
              <a:rPr lang="en-US" dirty="0" err="1"/>
              <a:t>aponta</a:t>
            </a:r>
            <a:r>
              <a:rPr lang="en-US" dirty="0"/>
              <a:t> para a </a:t>
            </a:r>
            <a:r>
              <a:rPr lang="en-US" dirty="0" err="1"/>
              <a:t>classe</a:t>
            </a:r>
            <a:r>
              <a:rPr lang="en-US" dirty="0"/>
              <a:t> da qual </a:t>
            </a:r>
            <a:r>
              <a:rPr lang="en-US" dirty="0" err="1"/>
              <a:t>ela</a:t>
            </a:r>
            <a:r>
              <a:rPr lang="en-US" dirty="0"/>
              <a:t> </a:t>
            </a:r>
            <a:r>
              <a:rPr lang="en-US" dirty="0" err="1"/>
              <a:t>depende</a:t>
            </a:r>
            <a:r>
              <a:rPr lang="en-US" dirty="0"/>
              <a:t>.</a:t>
            </a: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OBS: são representadas pelo &lt;&lt;include&gt;&gt; e &lt;&lt;</a:t>
            </a:r>
            <a:r>
              <a:rPr lang="pt-BR" dirty="0" err="1"/>
              <a:t>extend</a:t>
            </a:r>
            <a:r>
              <a:rPr lang="pt-BR" dirty="0"/>
              <a:t>&gt;&gt; do diagrama de casos de uso.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46AEB0E-0BFE-ABF8-5170-06684A95A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0415" y="2539637"/>
            <a:ext cx="5362575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7138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4261e1cd0b_2_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Dependências ou Associação</a:t>
            </a:r>
            <a:endParaRPr dirty="0"/>
          </a:p>
        </p:txBody>
      </p:sp>
      <p:sp>
        <p:nvSpPr>
          <p:cNvPr id="76" name="Google Shape;76;g14261e1cd0b_2_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Dependência e associação são tipos de relacionamento similares. No entanto pode-se dizer que a associação apresenta maior nível de “acoplamento”.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dirty="0">
                <a:solidFill>
                  <a:schemeClr val="accent1"/>
                </a:solidFill>
              </a:rPr>
              <a:t>Associação:</a:t>
            </a:r>
            <a:r>
              <a:rPr lang="pt-BR" dirty="0">
                <a:solidFill>
                  <a:schemeClr val="tx2">
                    <a:lumMod val="50000"/>
                  </a:schemeClr>
                </a:solidFill>
              </a:rPr>
              <a:t> “costuma ser utilizada nos casos de relação estrutural. Ou seja, relação gerada entre os atributos”.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dirty="0">
                <a:solidFill>
                  <a:schemeClr val="accent1"/>
                </a:solidFill>
              </a:rPr>
              <a:t>Dependência: </a:t>
            </a:r>
            <a:r>
              <a:rPr lang="pt-BR" b="1" dirty="0">
                <a:solidFill>
                  <a:schemeClr val="tx2">
                    <a:lumMod val="50000"/>
                  </a:schemeClr>
                </a:solidFill>
              </a:rPr>
              <a:t>“</a:t>
            </a:r>
            <a:r>
              <a:rPr lang="pt-BR" dirty="0">
                <a:solidFill>
                  <a:schemeClr val="tx2">
                    <a:lumMod val="50000"/>
                  </a:schemeClr>
                </a:solidFill>
              </a:rPr>
              <a:t>costuma ser utilizada nos casos de relação não estrutural. Ou seja, relação gerada a partir da dependência entre os métodos</a:t>
            </a:r>
            <a:r>
              <a:rPr lang="pt-BR" b="1" dirty="0">
                <a:solidFill>
                  <a:schemeClr val="tx2">
                    <a:lumMod val="50000"/>
                  </a:schemeClr>
                </a:solidFill>
              </a:rPr>
              <a:t>”</a:t>
            </a:r>
            <a:r>
              <a:rPr lang="pt-BR" dirty="0">
                <a:solidFill>
                  <a:schemeClr val="tx2">
                    <a:lumMod val="50000"/>
                  </a:schemeClr>
                </a:solidFill>
              </a:rPr>
              <a:t>.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F1D1EFC-1743-B2E1-B6AE-1925B593BA50}"/>
              </a:ext>
            </a:extLst>
          </p:cNvPr>
          <p:cNvSpPr txBox="1"/>
          <p:nvPr/>
        </p:nvSpPr>
        <p:spPr>
          <a:xfrm flipH="1">
            <a:off x="2764602" y="4307265"/>
            <a:ext cx="6067698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>
                <a:solidFill>
                  <a:schemeClr val="accent4">
                    <a:lumMod val="75000"/>
                  </a:schemeClr>
                </a:solidFill>
                <a:latin typeface="Biome" panose="020B0502040204020203" pitchFamily="34" charset="0"/>
                <a:cs typeface="Biome" panose="020B0502040204020203" pitchFamily="34" charset="0"/>
              </a:rPr>
              <a:t>Informações adicionais</a:t>
            </a:r>
          </a:p>
        </p:txBody>
      </p:sp>
    </p:spTree>
    <p:extLst>
      <p:ext uri="{BB962C8B-B14F-4D97-AF65-F5344CB8AC3E}">
        <p14:creationId xmlns:p14="http://schemas.microsoft.com/office/powerpoint/2010/main" val="40445087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4261e1cd0b_2_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Tópicos a serem trabalhados na aula</a:t>
            </a:r>
            <a:endParaRPr dirty="0"/>
          </a:p>
        </p:txBody>
      </p:sp>
      <p:sp>
        <p:nvSpPr>
          <p:cNvPr id="76" name="Google Shape;76;g14261e1cd0b_2_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Dependências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-    </a:t>
            </a:r>
            <a:r>
              <a:rPr lang="pt-BR" dirty="0">
                <a:highlight>
                  <a:srgbClr val="C0C0C0"/>
                </a:highlight>
              </a:rPr>
              <a:t>Agregação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Composição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Generalização/ especialização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Classe associativa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053198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4261e1cd0b_2_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Agregação</a:t>
            </a:r>
            <a:endParaRPr dirty="0"/>
          </a:p>
        </p:txBody>
      </p:sp>
      <p:sp>
        <p:nvSpPr>
          <p:cNvPr id="76" name="Google Shape;76;g14261e1cd0b_2_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Agregações são tipos especiais de associações onde se tenta demonstrar que as informações de um objeto (chamado objeto-todo) precisam ser complementadas pelas informações contidas em um ou mais objetos de outra classe (chamados objeto-parte).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D48ED24-040B-4842-B79F-E66423665E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431" y="2556627"/>
            <a:ext cx="6263232" cy="2012248"/>
          </a:xfrm>
          <a:prstGeom prst="rect">
            <a:avLst/>
          </a:prstGeom>
        </p:spPr>
      </p:pic>
      <p:cxnSp>
        <p:nvCxnSpPr>
          <p:cNvPr id="6" name="Conector: Angulado 5">
            <a:extLst>
              <a:ext uri="{FF2B5EF4-FFF2-40B4-BE49-F238E27FC236}">
                <a16:creationId xmlns:a16="http://schemas.microsoft.com/office/drawing/2014/main" id="{C101A838-7ACF-24F6-A59D-FC1D04CF2FAD}"/>
              </a:ext>
            </a:extLst>
          </p:cNvPr>
          <p:cNvCxnSpPr>
            <a:cxnSpLocks/>
          </p:cNvCxnSpPr>
          <p:nvPr/>
        </p:nvCxnSpPr>
        <p:spPr>
          <a:xfrm rot="16200000" flipH="1">
            <a:off x="2390985" y="4141401"/>
            <a:ext cx="983119" cy="3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1E3508D0-EF7B-913E-6A82-0B8E98981F17}"/>
              </a:ext>
            </a:extLst>
          </p:cNvPr>
          <p:cNvSpPr txBox="1"/>
          <p:nvPr/>
        </p:nvSpPr>
        <p:spPr>
          <a:xfrm>
            <a:off x="2699658" y="4632962"/>
            <a:ext cx="5921828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b="1" dirty="0"/>
              <a:t>Losango branco indica que o relacionamento parte não é exclusivo.</a:t>
            </a:r>
          </a:p>
        </p:txBody>
      </p:sp>
    </p:spTree>
    <p:extLst>
      <p:ext uri="{BB962C8B-B14F-4D97-AF65-F5344CB8AC3E}">
        <p14:creationId xmlns:p14="http://schemas.microsoft.com/office/powerpoint/2010/main" val="18002145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4261e1cd0b_2_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O diagrama indica que sempre que uma pessoa for consultada, além de suas informações pessoais, serão também apresentadas todas as contas que ela possui.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7CEC91C-2040-ED5C-48C7-4B1FF2777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Exemplo 1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6F560DDE-D0B5-E173-5B79-D1C9E931C7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974" y="2228554"/>
            <a:ext cx="6263232" cy="2012248"/>
          </a:xfrm>
          <a:prstGeom prst="rect">
            <a:avLst/>
          </a:prstGeom>
        </p:spPr>
      </p:pic>
      <p:cxnSp>
        <p:nvCxnSpPr>
          <p:cNvPr id="5" name="Conector: Angulado 4">
            <a:extLst>
              <a:ext uri="{FF2B5EF4-FFF2-40B4-BE49-F238E27FC236}">
                <a16:creationId xmlns:a16="http://schemas.microsoft.com/office/drawing/2014/main" id="{95B33917-89FA-1ED0-F70E-8551A7352FA9}"/>
              </a:ext>
            </a:extLst>
          </p:cNvPr>
          <p:cNvCxnSpPr>
            <a:cxnSpLocks/>
          </p:cNvCxnSpPr>
          <p:nvPr/>
        </p:nvCxnSpPr>
        <p:spPr>
          <a:xfrm rot="5400000">
            <a:off x="2259882" y="4010298"/>
            <a:ext cx="1245328" cy="1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9801CADA-84B2-4975-E75F-1C45E6E68922}"/>
              </a:ext>
            </a:extLst>
          </p:cNvPr>
          <p:cNvSpPr txBox="1"/>
          <p:nvPr/>
        </p:nvSpPr>
        <p:spPr>
          <a:xfrm>
            <a:off x="2699658" y="4632962"/>
            <a:ext cx="5921828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b="1" dirty="0"/>
              <a:t>Posso vincular uma conta a outra pessoa.</a:t>
            </a:r>
          </a:p>
        </p:txBody>
      </p:sp>
    </p:spTree>
    <p:extLst>
      <p:ext uri="{BB962C8B-B14F-4D97-AF65-F5344CB8AC3E}">
        <p14:creationId xmlns:p14="http://schemas.microsoft.com/office/powerpoint/2010/main" val="103129581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7CEC91C-2040-ED5C-48C7-4B1FF2777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Exemplo 2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6A695FC-21C8-8C64-2F9C-6F5176BF25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824" y="1696389"/>
            <a:ext cx="5676900" cy="1628775"/>
          </a:xfrm>
          <a:prstGeom prst="rect">
            <a:avLst/>
          </a:prstGeom>
        </p:spPr>
      </p:pic>
      <p:cxnSp>
        <p:nvCxnSpPr>
          <p:cNvPr id="6" name="Conector: Angulado 5">
            <a:extLst>
              <a:ext uri="{FF2B5EF4-FFF2-40B4-BE49-F238E27FC236}">
                <a16:creationId xmlns:a16="http://schemas.microsoft.com/office/drawing/2014/main" id="{1BFB23AD-C608-59C3-A1BB-EA4CE7BF81FF}"/>
              </a:ext>
            </a:extLst>
          </p:cNvPr>
          <p:cNvCxnSpPr>
            <a:cxnSpLocks/>
          </p:cNvCxnSpPr>
          <p:nvPr/>
        </p:nvCxnSpPr>
        <p:spPr>
          <a:xfrm rot="5400000">
            <a:off x="2094419" y="3209113"/>
            <a:ext cx="1245328" cy="1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7DE9524E-0203-0A61-1BC2-6E8D5E267DBA}"/>
              </a:ext>
            </a:extLst>
          </p:cNvPr>
          <p:cNvSpPr txBox="1"/>
          <p:nvPr/>
        </p:nvSpPr>
        <p:spPr>
          <a:xfrm>
            <a:off x="2534195" y="3831775"/>
            <a:ext cx="5921828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b="1" dirty="0"/>
              <a:t>Posso retirar o pneu de um carro e inserir em outro.</a:t>
            </a:r>
          </a:p>
        </p:txBody>
      </p:sp>
    </p:spTree>
    <p:extLst>
      <p:ext uri="{BB962C8B-B14F-4D97-AF65-F5344CB8AC3E}">
        <p14:creationId xmlns:p14="http://schemas.microsoft.com/office/powerpoint/2010/main" val="14365574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7CEC91C-2040-ED5C-48C7-4B1FF2777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Exemplo 3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1C4FE55C-A448-BE08-224C-1529D1BE6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239" y="1924050"/>
            <a:ext cx="6600825" cy="1295400"/>
          </a:xfrm>
          <a:prstGeom prst="rect">
            <a:avLst/>
          </a:prstGeom>
        </p:spPr>
      </p:pic>
      <p:cxnSp>
        <p:nvCxnSpPr>
          <p:cNvPr id="3" name="Conector: Angulado 2">
            <a:extLst>
              <a:ext uri="{FF2B5EF4-FFF2-40B4-BE49-F238E27FC236}">
                <a16:creationId xmlns:a16="http://schemas.microsoft.com/office/drawing/2014/main" id="{68F3F568-E725-6862-2018-F475D3B550B8}"/>
              </a:ext>
            </a:extLst>
          </p:cNvPr>
          <p:cNvCxnSpPr>
            <a:cxnSpLocks/>
          </p:cNvCxnSpPr>
          <p:nvPr/>
        </p:nvCxnSpPr>
        <p:spPr>
          <a:xfrm rot="5400000">
            <a:off x="2225048" y="3428112"/>
            <a:ext cx="1245328" cy="1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0E56B4E2-D6D1-B7D1-2536-A91F25631250}"/>
              </a:ext>
            </a:extLst>
          </p:cNvPr>
          <p:cNvSpPr txBox="1"/>
          <p:nvPr/>
        </p:nvSpPr>
        <p:spPr>
          <a:xfrm>
            <a:off x="2664824" y="4050775"/>
            <a:ext cx="5921828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b="1" dirty="0"/>
              <a:t>A disciplina pode ser retirada de um curso e alocada em outro.</a:t>
            </a:r>
          </a:p>
        </p:txBody>
      </p:sp>
    </p:spTree>
    <p:extLst>
      <p:ext uri="{BB962C8B-B14F-4D97-AF65-F5344CB8AC3E}">
        <p14:creationId xmlns:p14="http://schemas.microsoft.com/office/powerpoint/2010/main" val="3085934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4261e1cd0b_2_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Considere um carrinho de compras virtual. O carrinho é formado pela classe Item que contém os atributos quantidade e preço. O pedido se relaciona com um ou mais objetos da classe Item e um objeto da classe Item pertence a apenas um pedido. A classe Item também se relaciona com a classe Venda, esta apresenta como atributos a data em que a venda ocorreu. Um item faz parte de 0 ou 1 venda. A venda possui e ou mais itens.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 classe Item também se relaciona com a classe Produto.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Na classe produto há os atributos nome e preço.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Um item se relaciona a um e apenas um produto e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um produto se relaciona a 0 ou muitos itens.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7CEC91C-2040-ED5C-48C7-4B1FF2777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Construa o diagrama de classes para a situação a seguir: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0C8F79E1-E625-8AE1-B795-F8DB614AD3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715" y="3228647"/>
            <a:ext cx="1933785" cy="197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18971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4261e1cd0b_2_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7CEC91C-2040-ED5C-48C7-4B1FF2777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Construa o diagrama de classes para a situação a seguir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0AF4368-C0D4-AD82-57A7-FE92003CA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152475"/>
            <a:ext cx="8520600" cy="34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64281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4261e1cd0b_2_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 associação de agregação, pode frequentemente, ser substituída por uma associação binária simples, dependendo da visão de quem faz a modelagem. A função principal de uma associação do tipo agregação é identificar a obrigatoriedade de complementação das informações do objeto-todo pelo objeto-parte.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Nas associações binárias, essa obrigatoriedade não está explícita.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7CEC91C-2040-ED5C-48C7-4B1FF2777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Agregação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677EFED-20CD-874A-715B-9BC4C53274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3343776"/>
            <a:ext cx="1735183" cy="1700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8978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4261e1cd0b_2_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Tópicos a serem trabalhados na aula</a:t>
            </a:r>
            <a:endParaRPr dirty="0"/>
          </a:p>
        </p:txBody>
      </p:sp>
      <p:sp>
        <p:nvSpPr>
          <p:cNvPr id="76" name="Google Shape;76;g14261e1cd0b_2_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Dependências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-    Agregação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>
                <a:highlight>
                  <a:srgbClr val="C0C0C0"/>
                </a:highlight>
              </a:rPr>
              <a:t>Composição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Generalização/ especialização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Classe associativa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5428582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4261e1cd0b_2_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Composição</a:t>
            </a:r>
            <a:endParaRPr dirty="0"/>
          </a:p>
        </p:txBody>
      </p:sp>
      <p:sp>
        <p:nvSpPr>
          <p:cNvPr id="76" name="Google Shape;76;g14261e1cd0b_2_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88460" cy="382882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 dirty="0"/>
              <a:t>Similar a agregação, difere porque o vínculo representado indica maior dependência entre o objeto-todo e o objeto-parte.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dirty="0"/>
              <a:t>Importante: Em uma composição, os objetos-parte não podem ser destruídos por um objeto diferente do objeto-todo ao qual estão relacionados.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87E13DF8-F6B4-8895-2AF6-AD69C9435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396" y="2302666"/>
            <a:ext cx="6639566" cy="1528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59405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4261e1cd0b_2_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dirty="0"/>
              <a:t>IMPORTANTE: Como é exclusivo, nesse caso, a multiplicidade do lado do todo sempre será 1..1 ou 0..1.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7CEC91C-2040-ED5C-48C7-4B1FF2777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92774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pt-BR" dirty="0"/>
              <a:t>Exemplo 1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491BDAA-7C90-8B8C-A115-271B56AB8F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0237" y="2641150"/>
            <a:ext cx="5172075" cy="1190625"/>
          </a:xfrm>
          <a:prstGeom prst="rect">
            <a:avLst/>
          </a:prstGeom>
        </p:spPr>
      </p:pic>
      <p:cxnSp>
        <p:nvCxnSpPr>
          <p:cNvPr id="6" name="Conector: Angulado 5">
            <a:extLst>
              <a:ext uri="{FF2B5EF4-FFF2-40B4-BE49-F238E27FC236}">
                <a16:creationId xmlns:a16="http://schemas.microsoft.com/office/drawing/2014/main" id="{5340C426-DF6F-4DA7-CD3C-43DD90AD6688}"/>
              </a:ext>
            </a:extLst>
          </p:cNvPr>
          <p:cNvCxnSpPr>
            <a:cxnSpLocks/>
          </p:cNvCxnSpPr>
          <p:nvPr/>
        </p:nvCxnSpPr>
        <p:spPr>
          <a:xfrm rot="5400000">
            <a:off x="2303424" y="3946215"/>
            <a:ext cx="1245328" cy="1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CD6F72EE-90CA-1430-BD0E-7A3254D7B070}"/>
              </a:ext>
            </a:extLst>
          </p:cNvPr>
          <p:cNvSpPr txBox="1"/>
          <p:nvPr/>
        </p:nvSpPr>
        <p:spPr>
          <a:xfrm>
            <a:off x="2743200" y="4568875"/>
            <a:ext cx="5921828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b="1" dirty="0"/>
              <a:t>Losango preto indica que o relacionamento parte não é exclusivo.</a:t>
            </a:r>
          </a:p>
        </p:txBody>
      </p:sp>
    </p:spTree>
    <p:extLst>
      <p:ext uri="{BB962C8B-B14F-4D97-AF65-F5344CB8AC3E}">
        <p14:creationId xmlns:p14="http://schemas.microsoft.com/office/powerpoint/2010/main" val="994409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4261e1cd0b_2_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/>
              <a:t>Desenvolva o diagrama de classes para a situação a seguir:</a:t>
            </a:r>
            <a:endParaRPr sz="2400" dirty="0"/>
          </a:p>
        </p:txBody>
      </p:sp>
      <p:sp>
        <p:nvSpPr>
          <p:cNvPr id="76" name="Google Shape;76;g14261e1cd0b_2_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 Classe </a:t>
            </a:r>
            <a:r>
              <a:rPr lang="pt-BR" dirty="0" err="1"/>
              <a:t>RevistaCientifica</a:t>
            </a:r>
            <a:r>
              <a:rPr lang="pt-BR" dirty="0"/>
              <a:t> apresenta como atributos o título, o ISSN e a periodicidade. Uma revista científica é formada por um ou muitos objetos da classe </a:t>
            </a:r>
            <a:r>
              <a:rPr lang="pt-BR" dirty="0" err="1"/>
              <a:t>Edicao</a:t>
            </a:r>
            <a:r>
              <a:rPr lang="pt-BR" dirty="0"/>
              <a:t>. A classe </a:t>
            </a:r>
            <a:r>
              <a:rPr lang="pt-BR" dirty="0" err="1"/>
              <a:t>Edicao</a:t>
            </a:r>
            <a:r>
              <a:rPr lang="pt-BR" dirty="0"/>
              <a:t> é parte de uma e apenas uma revista científica. A classe </a:t>
            </a:r>
            <a:r>
              <a:rPr lang="pt-BR" dirty="0" err="1"/>
              <a:t>Edicao</a:t>
            </a:r>
            <a:r>
              <a:rPr lang="pt-BR" dirty="0"/>
              <a:t> é formada pelos atributos numero, volume e </a:t>
            </a:r>
            <a:r>
              <a:rPr lang="pt-BR" dirty="0" err="1"/>
              <a:t>dataEdicao</a:t>
            </a:r>
            <a:r>
              <a:rPr lang="pt-BR" dirty="0"/>
              <a:t>. Cada </a:t>
            </a:r>
            <a:r>
              <a:rPr lang="pt-BR" dirty="0" err="1"/>
              <a:t>Edicao</a:t>
            </a:r>
            <a:r>
              <a:rPr lang="pt-BR" dirty="0"/>
              <a:t> é formada por 6 a 10 objetos da classe Artigo, que apresenta como atributo o </a:t>
            </a:r>
            <a:r>
              <a:rPr lang="pt-BR" dirty="0" err="1"/>
              <a:t>tituloDoArtigo</a:t>
            </a:r>
            <a:r>
              <a:rPr lang="pt-BR" dirty="0"/>
              <a:t>. Um artigo é formado por uma e apenas uma edição.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EBBB1B6F-7C76-4D1F-F480-0495A0540F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715" y="3228647"/>
            <a:ext cx="1933785" cy="197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72007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4261e1cd0b_2_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/>
              <a:t>Desenvolva o diagrama de classes para a situação a seguir:</a:t>
            </a:r>
            <a:endParaRPr sz="24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47BAA69-87EB-DB75-230B-0328AB5B2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170405"/>
            <a:ext cx="5223174" cy="3616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90823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4261e1cd0b_2_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Devemos classificar a associação a seguir com o tipo composição ou agregação?</a:t>
            </a:r>
            <a:endParaRPr dirty="0"/>
          </a:p>
        </p:txBody>
      </p:sp>
      <p:sp>
        <p:nvSpPr>
          <p:cNvPr id="76" name="Google Shape;76;g14261e1cd0b_2_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195564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F01FF1C-2C0F-E97E-4BC5-0DFECAE30E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912" y="1892753"/>
            <a:ext cx="7276703" cy="22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80843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4261e1cd0b_2_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Devemos classificar a associação a seguir com o tipo composição ou agregação?</a:t>
            </a:r>
            <a:endParaRPr dirty="0"/>
          </a:p>
        </p:txBody>
      </p:sp>
      <p:sp>
        <p:nvSpPr>
          <p:cNvPr id="76" name="Google Shape;76;g14261e1cd0b_2_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195564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F01FF1C-2C0F-E97E-4BC5-0DFECAE30E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26" y="1611549"/>
            <a:ext cx="7276703" cy="22289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E84C067C-DABD-7CB9-2F19-B2362DB6D636}"/>
              </a:ext>
            </a:extLst>
          </p:cNvPr>
          <p:cNvSpPr txBox="1"/>
          <p:nvPr/>
        </p:nvSpPr>
        <p:spPr>
          <a:xfrm flipH="1">
            <a:off x="409814" y="3907824"/>
            <a:ext cx="8453847" cy="9541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>
                <a:solidFill>
                  <a:srgbClr val="FE7466"/>
                </a:solidFill>
              </a:rPr>
              <a:t>Nenhum dos casos!!! Não temos a relação todo-parte entre carro e pessoa ou pessoa e carro!!!!</a:t>
            </a:r>
          </a:p>
        </p:txBody>
      </p:sp>
    </p:spTree>
    <p:extLst>
      <p:ext uri="{BB962C8B-B14F-4D97-AF65-F5344CB8AC3E}">
        <p14:creationId xmlns:p14="http://schemas.microsoft.com/office/powerpoint/2010/main" val="200464758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4261e1cd0b_2_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b="1" dirty="0">
                <a:solidFill>
                  <a:srgbClr val="FE7466"/>
                </a:solidFill>
              </a:rPr>
              <a:t>IMPORTANTE</a:t>
            </a:r>
            <a:endParaRPr sz="4000" b="1" dirty="0">
              <a:solidFill>
                <a:srgbClr val="FE7466"/>
              </a:solidFill>
            </a:endParaRPr>
          </a:p>
        </p:txBody>
      </p:sp>
      <p:sp>
        <p:nvSpPr>
          <p:cNvPr id="76" name="Google Shape;76;g14261e1cd0b_2_35"/>
          <p:cNvSpPr txBox="1">
            <a:spLocks noGrp="1"/>
          </p:cNvSpPr>
          <p:nvPr>
            <p:ph type="body" idx="1"/>
          </p:nvPr>
        </p:nvSpPr>
        <p:spPr>
          <a:xfrm>
            <a:off x="311700" y="3056709"/>
            <a:ext cx="6663866" cy="1512166"/>
          </a:xfrm>
          <a:prstGeom prst="rect">
            <a:avLst/>
          </a:prstGeom>
          <a:solidFill>
            <a:srgbClr val="FFFF00"/>
          </a:solidFill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dirty="0">
                <a:solidFill>
                  <a:srgbClr val="FE7466"/>
                </a:solidFill>
              </a:rPr>
              <a:t>Quando não usar composição ou agregação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DC4F4C56-771B-91FF-B4A9-926B28077C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888427">
            <a:off x="7153684" y="3115983"/>
            <a:ext cx="1514100" cy="148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90363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4261e1cd0b_2_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Devemos classificar a associação a seguir com o tipo composição ou agregação?</a:t>
            </a:r>
            <a:endParaRPr dirty="0"/>
          </a:p>
        </p:txBody>
      </p:sp>
      <p:sp>
        <p:nvSpPr>
          <p:cNvPr id="76" name="Google Shape;76;g14261e1cd0b_2_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195564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F01FF1C-2C0F-E97E-4BC5-0DFECAE30E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26" y="1611549"/>
            <a:ext cx="7276703" cy="22289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E84C067C-DABD-7CB9-2F19-B2362DB6D636}"/>
              </a:ext>
            </a:extLst>
          </p:cNvPr>
          <p:cNvSpPr txBox="1"/>
          <p:nvPr/>
        </p:nvSpPr>
        <p:spPr>
          <a:xfrm flipH="1">
            <a:off x="409814" y="3907824"/>
            <a:ext cx="8453847" cy="9541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>
                <a:solidFill>
                  <a:srgbClr val="FE7466"/>
                </a:solidFill>
              </a:rPr>
              <a:t>Nenhum dos casos!!! Não temos a relação todo-parte entre carro e pessoa ou pessoa e carro!!!!</a:t>
            </a:r>
          </a:p>
        </p:txBody>
      </p:sp>
    </p:spTree>
    <p:extLst>
      <p:ext uri="{BB962C8B-B14F-4D97-AF65-F5344CB8AC3E}">
        <p14:creationId xmlns:p14="http://schemas.microsoft.com/office/powerpoint/2010/main" val="301669557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4261e1cd0b_2_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 composição ou agregação deve apenas ser utilizada quando se tratar de uma relação todo-parte.</a:t>
            </a:r>
            <a:br>
              <a:rPr lang="pt-BR" dirty="0"/>
            </a:br>
            <a:br>
              <a:rPr lang="pt-BR" dirty="0"/>
            </a:br>
            <a:br>
              <a:rPr lang="pt-BR" dirty="0"/>
            </a:br>
            <a:br>
              <a:rPr lang="pt-BR" dirty="0"/>
            </a:br>
            <a:br>
              <a:rPr lang="pt-BR" dirty="0"/>
            </a:br>
            <a:br>
              <a:rPr lang="pt-BR" sz="2200" dirty="0"/>
            </a:br>
            <a:br>
              <a:rPr lang="pt-BR" sz="2200" dirty="0"/>
            </a:br>
            <a:r>
              <a:rPr lang="pt-BR" sz="2200" dirty="0"/>
              <a:t>Por vezes, indica-se a existência da relação de agregação/ composição quando o objetivo é indicar a deleção em cascata dos objetos dependentes. O elemento por indicar a ocorrência, ou não, da deleção em cascata é a multiplicidade.</a:t>
            </a:r>
            <a:endParaRPr sz="22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2952D34-8C11-79FA-53F6-42F63D9F6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8943" y="1654538"/>
            <a:ext cx="5505450" cy="1371600"/>
          </a:xfrm>
          <a:prstGeom prst="rect">
            <a:avLst/>
          </a:prstGeom>
        </p:spPr>
      </p:pic>
      <p:sp>
        <p:nvSpPr>
          <p:cNvPr id="5" name="Cruz 4">
            <a:extLst>
              <a:ext uri="{FF2B5EF4-FFF2-40B4-BE49-F238E27FC236}">
                <a16:creationId xmlns:a16="http://schemas.microsoft.com/office/drawing/2014/main" id="{34EE41F9-8BD0-94E2-4AAA-CC177E588220}"/>
              </a:ext>
            </a:extLst>
          </p:cNvPr>
          <p:cNvSpPr/>
          <p:nvPr/>
        </p:nvSpPr>
        <p:spPr>
          <a:xfrm rot="18912868">
            <a:off x="3982835" y="1917972"/>
            <a:ext cx="870857" cy="844732"/>
          </a:xfrm>
          <a:prstGeom prst="plus">
            <a:avLst>
              <a:gd name="adj" fmla="val 41495"/>
            </a:avLst>
          </a:prstGeom>
          <a:solidFill>
            <a:srgbClr val="FE7466"/>
          </a:solidFill>
          <a:ln>
            <a:solidFill>
              <a:srgbClr val="FE74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964798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4261e1cd0b_2_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Tópicos a serem trabalhados na aula</a:t>
            </a:r>
            <a:endParaRPr dirty="0"/>
          </a:p>
        </p:txBody>
      </p:sp>
      <p:sp>
        <p:nvSpPr>
          <p:cNvPr id="76" name="Google Shape;76;g14261e1cd0b_2_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Dependências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-    Agregação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Composição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>
                <a:highlight>
                  <a:srgbClr val="C0C0C0"/>
                </a:highlight>
              </a:rPr>
              <a:t>Generalização/ especialização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Classe associativa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9277807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4261e1cd0b_2_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Generalização/ especialização</a:t>
            </a:r>
            <a:endParaRPr dirty="0"/>
          </a:p>
        </p:txBody>
      </p:sp>
      <p:sp>
        <p:nvSpPr>
          <p:cNvPr id="76" name="Google Shape;76;g14261e1cd0b_2_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195564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Representa a ocorrência de herança entre as classes.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Classes-mãe (superclasses/ gerais)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Classes-filha (subclasses/específicas)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41EAE7A-9437-8DFD-A58D-EEF3224DE4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264" y="1994263"/>
            <a:ext cx="4395319" cy="2860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61262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4261e1cd0b_2_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Generalização/ especialização</a:t>
            </a:r>
            <a:endParaRPr dirty="0"/>
          </a:p>
        </p:txBody>
      </p:sp>
      <p:sp>
        <p:nvSpPr>
          <p:cNvPr id="76" name="Google Shape;76;g14261e1cd0b_2_35"/>
          <p:cNvSpPr txBox="1">
            <a:spLocks noGrp="1"/>
          </p:cNvSpPr>
          <p:nvPr>
            <p:ph type="body" idx="1"/>
          </p:nvPr>
        </p:nvSpPr>
        <p:spPr>
          <a:xfrm>
            <a:off x="311699" y="1152475"/>
            <a:ext cx="5029043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dirty="0">
                <a:solidFill>
                  <a:srgbClr val="FE7466"/>
                </a:solidFill>
              </a:rPr>
              <a:t>Importante: caso seja determinado que apenas as classes </a:t>
            </a:r>
            <a:r>
              <a:rPr lang="pt-BR" b="1" dirty="0" err="1">
                <a:solidFill>
                  <a:srgbClr val="FE7466"/>
                </a:solidFill>
              </a:rPr>
              <a:t>Conta_Especial</a:t>
            </a:r>
            <a:r>
              <a:rPr lang="pt-BR" b="1" dirty="0">
                <a:solidFill>
                  <a:srgbClr val="FE7466"/>
                </a:solidFill>
              </a:rPr>
              <a:t> e </a:t>
            </a:r>
            <a:r>
              <a:rPr lang="pt-BR" b="1" dirty="0" err="1">
                <a:solidFill>
                  <a:srgbClr val="FE7466"/>
                </a:solidFill>
              </a:rPr>
              <a:t>Conta_Poupanca</a:t>
            </a:r>
            <a:r>
              <a:rPr lang="pt-BR" b="1" dirty="0">
                <a:solidFill>
                  <a:srgbClr val="FE7466"/>
                </a:solidFill>
              </a:rPr>
              <a:t> podem gerar objetos, a classe </a:t>
            </a:r>
            <a:r>
              <a:rPr lang="pt-BR" b="1" dirty="0" err="1">
                <a:solidFill>
                  <a:srgbClr val="FE7466"/>
                </a:solidFill>
              </a:rPr>
              <a:t>Conta_Comum</a:t>
            </a:r>
            <a:r>
              <a:rPr lang="pt-BR" b="1" dirty="0">
                <a:solidFill>
                  <a:srgbClr val="FE7466"/>
                </a:solidFill>
              </a:rPr>
              <a:t> passa a ser uma classe abstrata.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dirty="0">
                <a:solidFill>
                  <a:srgbClr val="FE7466"/>
                </a:solidFill>
              </a:rPr>
              <a:t>Ou seja, classe abstrata é uma classe que não pode ser instanciada.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01DC8B6A-EDAD-CA7A-F9C2-005D52CAF0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1" y="3560496"/>
            <a:ext cx="1514100" cy="148421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BB10648B-B835-9DC5-6334-04A52E1665BB}"/>
              </a:ext>
            </a:extLst>
          </p:cNvPr>
          <p:cNvSpPr txBox="1"/>
          <p:nvPr/>
        </p:nvSpPr>
        <p:spPr>
          <a:xfrm>
            <a:off x="2006063" y="3589121"/>
            <a:ext cx="2884076" cy="1323439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chemeClr val="accent1"/>
                </a:solidFill>
              </a:rPr>
              <a:t>A classe abstrata é identificada através de sua nomenclatura escrita em </a:t>
            </a:r>
            <a:r>
              <a:rPr lang="pt-BR" sz="2000" b="1" i="1" dirty="0">
                <a:solidFill>
                  <a:schemeClr val="accent1"/>
                </a:solidFill>
              </a:rPr>
              <a:t>itálico</a:t>
            </a:r>
            <a:r>
              <a:rPr lang="pt-BR" sz="2000" b="1" dirty="0">
                <a:solidFill>
                  <a:schemeClr val="accent1"/>
                </a:solidFill>
              </a:rPr>
              <a:t>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F48803D-8AD1-9940-22DE-D688BDEA18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8234" y="1025863"/>
            <a:ext cx="3854197" cy="2563258"/>
          </a:xfrm>
          <a:prstGeom prst="rect">
            <a:avLst/>
          </a:prstGeom>
        </p:spPr>
      </p:pic>
      <p:sp>
        <p:nvSpPr>
          <p:cNvPr id="8" name="Elipse 7">
            <a:extLst>
              <a:ext uri="{FF2B5EF4-FFF2-40B4-BE49-F238E27FC236}">
                <a16:creationId xmlns:a16="http://schemas.microsoft.com/office/drawing/2014/main" id="{3451D523-EC4A-2ED6-8F98-E22A43A73800}"/>
              </a:ext>
            </a:extLst>
          </p:cNvPr>
          <p:cNvSpPr/>
          <p:nvPr/>
        </p:nvSpPr>
        <p:spPr>
          <a:xfrm>
            <a:off x="6217923" y="1025863"/>
            <a:ext cx="1323703" cy="358800"/>
          </a:xfrm>
          <a:prstGeom prst="ellipse">
            <a:avLst/>
          </a:prstGeom>
          <a:noFill/>
          <a:ln w="57150">
            <a:solidFill>
              <a:srgbClr val="FE74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544990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4261e1cd0b_2_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Tópicos a serem trabalhados na aula</a:t>
            </a:r>
            <a:endParaRPr dirty="0"/>
          </a:p>
        </p:txBody>
      </p:sp>
      <p:sp>
        <p:nvSpPr>
          <p:cNvPr id="76" name="Google Shape;76;g14261e1cd0b_2_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Dependências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-    Agregação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Composição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Generalização/ especialização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/>
              <a:t>Classe abstrata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dirty="0">
                <a:highlight>
                  <a:srgbClr val="C0C0C0"/>
                </a:highlight>
              </a:rPr>
              <a:t>Classe associativa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7023351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4261e1cd0b_2_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Classe Associativa</a:t>
            </a:r>
            <a:endParaRPr dirty="0"/>
          </a:p>
        </p:txBody>
      </p:sp>
      <p:sp>
        <p:nvSpPr>
          <p:cNvPr id="76" name="Google Shape;76;g14261e1cd0b_2_35"/>
          <p:cNvSpPr txBox="1">
            <a:spLocks noGrp="1"/>
          </p:cNvSpPr>
          <p:nvPr>
            <p:ph type="body" idx="1"/>
          </p:nvPr>
        </p:nvSpPr>
        <p:spPr>
          <a:xfrm>
            <a:off x="311699" y="1152475"/>
            <a:ext cx="8153031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Classes associativas são produzidas quando associações possuem multiplicidade (*) nas duas extremidades.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b="1" dirty="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b="1" dirty="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b="1" dirty="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b="1" dirty="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b="1" dirty="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b="1" dirty="0">
              <a:solidFill>
                <a:schemeClr val="accent1"/>
              </a:solidFill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5570F02-BFED-73FD-B7B5-6531CCE8A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8715" y="2307771"/>
            <a:ext cx="6168170" cy="2610325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0A2A1B4D-FBBB-1E66-6AC6-1CBDD52BB0A1}"/>
              </a:ext>
            </a:extLst>
          </p:cNvPr>
          <p:cNvSpPr txBox="1"/>
          <p:nvPr/>
        </p:nvSpPr>
        <p:spPr>
          <a:xfrm>
            <a:off x="311699" y="3640642"/>
            <a:ext cx="402336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chemeClr val="accent1"/>
                </a:solidFill>
              </a:rPr>
              <a:t>São utilizadas quando há atributos relacionados à associação que não podem ser armazenados em nenhuma das classes envolvidas.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3721716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4261e1cd0b_2_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Classe Associativa</a:t>
            </a:r>
            <a:endParaRPr dirty="0"/>
          </a:p>
        </p:txBody>
      </p:sp>
      <p:sp>
        <p:nvSpPr>
          <p:cNvPr id="76" name="Google Shape;76;g14261e1cd0b_2_35"/>
          <p:cNvSpPr txBox="1">
            <a:spLocks noGrp="1"/>
          </p:cNvSpPr>
          <p:nvPr>
            <p:ph type="body" idx="1"/>
          </p:nvPr>
        </p:nvSpPr>
        <p:spPr>
          <a:xfrm>
            <a:off x="311699" y="1152475"/>
            <a:ext cx="8153031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b="1" dirty="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b="1" dirty="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b="1" dirty="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b="1" dirty="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b="1" dirty="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b="1" dirty="0">
              <a:solidFill>
                <a:schemeClr val="accent1"/>
              </a:solidFill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5570F02-BFED-73FD-B7B5-6531CCE8A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5457" y="992091"/>
            <a:ext cx="4899273" cy="2073337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0A2A1B4D-FBBB-1E66-6AC6-1CBDD52BB0A1}"/>
              </a:ext>
            </a:extLst>
          </p:cNvPr>
          <p:cNvSpPr txBox="1"/>
          <p:nvPr/>
        </p:nvSpPr>
        <p:spPr>
          <a:xfrm>
            <a:off x="394421" y="3724747"/>
            <a:ext cx="678559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FE7466"/>
                </a:solidFill>
              </a:rPr>
              <a:t>Atenção! A classe associação indica a existência de associação única (equivalente à </a:t>
            </a:r>
            <a:r>
              <a:rPr lang="pt-BR" sz="2400" b="1" dirty="0" err="1">
                <a:solidFill>
                  <a:srgbClr val="FE7466"/>
                </a:solidFill>
              </a:rPr>
              <a:t>tupla</a:t>
            </a:r>
            <a:r>
              <a:rPr lang="pt-BR" sz="2400" b="1" dirty="0">
                <a:solidFill>
                  <a:srgbClr val="FE7466"/>
                </a:solidFill>
              </a:rPr>
              <a:t> (linha) do banco relacional).</a:t>
            </a:r>
          </a:p>
          <a:p>
            <a:endParaRPr lang="pt-BR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1A1E52C1-866E-C0D8-D443-6ACBB988AF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255" y="1985377"/>
            <a:ext cx="1514100" cy="1484216"/>
          </a:xfrm>
          <a:prstGeom prst="rect">
            <a:avLst/>
          </a:prstGeom>
        </p:spPr>
      </p:pic>
      <p:sp>
        <p:nvSpPr>
          <p:cNvPr id="6" name="Retângulo: Cantos Superiores, Um Arredondado e Um Recortado 5">
            <a:extLst>
              <a:ext uri="{FF2B5EF4-FFF2-40B4-BE49-F238E27FC236}">
                <a16:creationId xmlns:a16="http://schemas.microsoft.com/office/drawing/2014/main" id="{20E78585-D990-3FB2-5FFE-A9BFDDFE9249}"/>
              </a:ext>
            </a:extLst>
          </p:cNvPr>
          <p:cNvSpPr/>
          <p:nvPr/>
        </p:nvSpPr>
        <p:spPr>
          <a:xfrm>
            <a:off x="7293567" y="3065428"/>
            <a:ext cx="1719982" cy="1196668"/>
          </a:xfrm>
          <a:prstGeom prst="snipRoundRect">
            <a:avLst/>
          </a:prstGeom>
          <a:solidFill>
            <a:srgbClr val="FFFFCC"/>
          </a:solidFill>
          <a:ln>
            <a:solidFill>
              <a:srgbClr val="FAEC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</a:rPr>
              <a:t>Ou seja, o ator </a:t>
            </a:r>
            <a:r>
              <a:rPr lang="pt-BR" b="1" dirty="0">
                <a:solidFill>
                  <a:srgbClr val="FE7466"/>
                </a:solidFill>
              </a:rPr>
              <a:t>NÃO</a:t>
            </a:r>
            <a:r>
              <a:rPr lang="pt-BR" b="1" dirty="0">
                <a:solidFill>
                  <a:schemeClr val="tx1"/>
                </a:solidFill>
              </a:rPr>
              <a:t> pode ter dois papéis no mesmo filme</a:t>
            </a:r>
            <a:r>
              <a:rPr lang="pt-BR" dirty="0"/>
              <a:t>.</a:t>
            </a:r>
          </a:p>
        </p:txBody>
      </p:sp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575D1F65-7886-7855-695A-5A948AFDB068}"/>
              </a:ext>
            </a:extLst>
          </p:cNvPr>
          <p:cNvSpPr/>
          <p:nvPr/>
        </p:nvSpPr>
        <p:spPr>
          <a:xfrm rot="18863119">
            <a:off x="7014539" y="4374287"/>
            <a:ext cx="496389" cy="435140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208740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4261e1cd0b_2_35"/>
          <p:cNvSpPr txBox="1">
            <a:spLocks noGrp="1"/>
          </p:cNvSpPr>
          <p:nvPr>
            <p:ph type="title"/>
          </p:nvPr>
        </p:nvSpPr>
        <p:spPr>
          <a:xfrm>
            <a:off x="311700" y="41889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Como representaríamos, através do diagrama de classes, o caso em que o ator pode ter mais de dois papéis em um filme?</a:t>
            </a:r>
            <a:endParaRPr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AEA6E3B-4CF7-D8B7-827C-6E6EBBCE95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715" y="3228647"/>
            <a:ext cx="1933785" cy="197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3402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4261e1cd0b_2_35"/>
          <p:cNvSpPr txBox="1">
            <a:spLocks noGrp="1"/>
          </p:cNvSpPr>
          <p:nvPr>
            <p:ph type="title"/>
          </p:nvPr>
        </p:nvSpPr>
        <p:spPr>
          <a:xfrm>
            <a:off x="311700" y="41889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pt-BR" dirty="0"/>
              <a:t>Como representaríamos, através do diagrama de classes, o caso em que o ator pode ter mais de dois papéis em um filme?</a:t>
            </a:r>
            <a:br>
              <a:rPr lang="pt-BR" dirty="0"/>
            </a:br>
            <a:br>
              <a:rPr lang="pt-BR" dirty="0"/>
            </a:br>
            <a:r>
              <a:rPr lang="pt-BR" b="1" dirty="0">
                <a:solidFill>
                  <a:schemeClr val="accent1"/>
                </a:solidFill>
              </a:rPr>
              <a:t>Nesse caso, não utilizamos a classe associativa, mas sim, uma classe comum.</a:t>
            </a:r>
            <a:br>
              <a:rPr lang="pt-BR" b="1" dirty="0">
                <a:solidFill>
                  <a:schemeClr val="accent1"/>
                </a:solidFill>
              </a:rPr>
            </a:br>
            <a:endParaRPr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FC19B62-83A2-F5F2-7AFF-CC16D87EC2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701" y="3252514"/>
            <a:ext cx="7410450" cy="128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31869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4261e1cd0b_2_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Como representaríamos, através do diagrama de classes, o caso em que o ator pode ter mais de dois papéis em um filme?</a:t>
            </a:r>
            <a:endParaRPr dirty="0"/>
          </a:p>
        </p:txBody>
      </p:sp>
      <p:sp>
        <p:nvSpPr>
          <p:cNvPr id="76" name="Google Shape;76;g14261e1cd0b_2_35"/>
          <p:cNvSpPr txBox="1">
            <a:spLocks noGrp="1"/>
          </p:cNvSpPr>
          <p:nvPr>
            <p:ph type="body" idx="1"/>
          </p:nvPr>
        </p:nvSpPr>
        <p:spPr>
          <a:xfrm>
            <a:off x="311699" y="1152475"/>
            <a:ext cx="8153031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b="1" dirty="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b="1" dirty="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b="1" dirty="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b="1" dirty="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b="1" dirty="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b="1" dirty="0">
              <a:solidFill>
                <a:schemeClr val="accent1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A2A1B4D-FBBB-1E66-6AC6-1CBDD52BB0A1}"/>
              </a:ext>
            </a:extLst>
          </p:cNvPr>
          <p:cNvSpPr txBox="1"/>
          <p:nvPr/>
        </p:nvSpPr>
        <p:spPr>
          <a:xfrm>
            <a:off x="394421" y="3724747"/>
            <a:ext cx="678559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FE7466"/>
                </a:solidFill>
              </a:rPr>
              <a:t>Nesse caso, indicamos a existência de associação múltipla (equivalente à existência de várias </a:t>
            </a:r>
            <a:r>
              <a:rPr lang="pt-BR" sz="2400" b="1" dirty="0" err="1">
                <a:solidFill>
                  <a:srgbClr val="FE7466"/>
                </a:solidFill>
              </a:rPr>
              <a:t>tuplas</a:t>
            </a:r>
            <a:r>
              <a:rPr lang="pt-BR" sz="2400" b="1" dirty="0">
                <a:solidFill>
                  <a:srgbClr val="FE7466"/>
                </a:solidFill>
              </a:rPr>
              <a:t> (linhas) do banco relacional).</a:t>
            </a:r>
          </a:p>
          <a:p>
            <a:endParaRPr lang="pt-BR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1A1E52C1-866E-C0D8-D443-6ACBB988AF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255" y="1985377"/>
            <a:ext cx="1514100" cy="1484216"/>
          </a:xfrm>
          <a:prstGeom prst="rect">
            <a:avLst/>
          </a:prstGeom>
        </p:spPr>
      </p:pic>
      <p:sp>
        <p:nvSpPr>
          <p:cNvPr id="6" name="Retângulo: Cantos Superiores, Um Arredondado e Um Recortado 5">
            <a:extLst>
              <a:ext uri="{FF2B5EF4-FFF2-40B4-BE49-F238E27FC236}">
                <a16:creationId xmlns:a16="http://schemas.microsoft.com/office/drawing/2014/main" id="{20E78585-D990-3FB2-5FFE-A9BFDDFE9249}"/>
              </a:ext>
            </a:extLst>
          </p:cNvPr>
          <p:cNvSpPr/>
          <p:nvPr/>
        </p:nvSpPr>
        <p:spPr>
          <a:xfrm>
            <a:off x="7293567" y="3065428"/>
            <a:ext cx="1719982" cy="1196668"/>
          </a:xfrm>
          <a:prstGeom prst="snipRoundRect">
            <a:avLst/>
          </a:prstGeom>
          <a:solidFill>
            <a:srgbClr val="FFFFCC"/>
          </a:solidFill>
          <a:ln>
            <a:solidFill>
              <a:srgbClr val="FAEC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</a:rPr>
              <a:t>Ou seja, o ator pode ter dois papéis no mesmo filme</a:t>
            </a:r>
            <a:r>
              <a:rPr lang="pt-BR" dirty="0"/>
              <a:t>.</a:t>
            </a:r>
          </a:p>
        </p:txBody>
      </p:sp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575D1F65-7886-7855-695A-5A948AFDB068}"/>
              </a:ext>
            </a:extLst>
          </p:cNvPr>
          <p:cNvSpPr/>
          <p:nvPr/>
        </p:nvSpPr>
        <p:spPr>
          <a:xfrm rot="18863119">
            <a:off x="7014539" y="4374287"/>
            <a:ext cx="496389" cy="435140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91B7C35-BEF5-CF3D-11DA-3DD68216C3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2911" y="1802889"/>
            <a:ext cx="6759754" cy="1172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68047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4261e1cd0b_2_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Pendente:</a:t>
            </a:r>
            <a:endParaRPr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74A9A350-8486-1887-261D-AF634E59D6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715" y="3228647"/>
            <a:ext cx="1933785" cy="197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61356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pt-BR" dirty="0"/>
              <a:t>Referências</a:t>
            </a:r>
            <a:endParaRPr dirty="0"/>
          </a:p>
        </p:txBody>
      </p:sp>
      <p:sp>
        <p:nvSpPr>
          <p:cNvPr id="427" name="Google Shape;427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dirty="0"/>
              <a:t>FERNANDES, João M.; MACHADO, Ricardo J. Requisitos em projetos de software e de sistemas de informação. São Paulo: </a:t>
            </a:r>
            <a:r>
              <a:rPr lang="pt-BR" dirty="0" err="1"/>
              <a:t>Novatec</a:t>
            </a:r>
            <a:r>
              <a:rPr lang="pt-BR" dirty="0"/>
              <a:t>, 2018.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pt-BR" dirty="0"/>
              <a:t>GUEDES, </a:t>
            </a:r>
            <a:r>
              <a:rPr lang="pt-BR" dirty="0" err="1"/>
              <a:t>Gilleanes</a:t>
            </a:r>
            <a:r>
              <a:rPr lang="pt-BR" dirty="0"/>
              <a:t> T. UML 2 – uma abordagem prática. São Paulo: </a:t>
            </a:r>
            <a:r>
              <a:rPr lang="pt-BR" dirty="0" err="1"/>
              <a:t>Novatec</a:t>
            </a:r>
            <a:r>
              <a:rPr lang="pt-BR" dirty="0"/>
              <a:t>, 2018.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pt-BR" dirty="0"/>
              <a:t>PRESSMAN, Roger S.; MAXIM, Bruce R.; MANZAN DE ANDRADE, Reginaldo A. J. A. Engenharia de software: uma abordagem profissional. Porto Alegre: Bookman, 2016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pt-BR" dirty="0"/>
              <a:t>COUTO, Paulo. Modelagem Conceitual e Projeto de Banco de Dados, 2017.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646</TotalTime>
  <Words>2393</Words>
  <Application>Microsoft Office PowerPoint</Application>
  <PresentationFormat>Apresentação na tela (16:9)</PresentationFormat>
  <Paragraphs>391</Paragraphs>
  <Slides>69</Slides>
  <Notes>67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69</vt:i4>
      </vt:variant>
    </vt:vector>
  </HeadingPairs>
  <TitlesOfParts>
    <vt:vector size="72" baseType="lpstr">
      <vt:lpstr>Arial</vt:lpstr>
      <vt:lpstr>Biome</vt:lpstr>
      <vt:lpstr>Simple Light</vt:lpstr>
      <vt:lpstr>Projeto de Software</vt:lpstr>
      <vt:lpstr>Na aula passada…</vt:lpstr>
      <vt:lpstr>Tópicos a serem trabalhados na aula</vt:lpstr>
      <vt:lpstr>Tópicos a serem trabalhados na aula</vt:lpstr>
      <vt:lpstr>Classes e objetos</vt:lpstr>
      <vt:lpstr>Classes e objetos</vt:lpstr>
      <vt:lpstr>Tópicos a serem trabalhados na aula</vt:lpstr>
      <vt:lpstr>Tópicos a serem trabalhados na aula</vt:lpstr>
      <vt:lpstr>Atributos ou propriedades</vt:lpstr>
      <vt:lpstr>Atributos ou propriedades</vt:lpstr>
      <vt:lpstr>Métodos, operações ou comportamentos</vt:lpstr>
      <vt:lpstr>Métodos, operações ou comportamentos</vt:lpstr>
      <vt:lpstr>Classes</vt:lpstr>
      <vt:lpstr>Tópicos a serem trabalhados na aula</vt:lpstr>
      <vt:lpstr>Multiplicidade</vt:lpstr>
      <vt:lpstr>Multiplicidade</vt:lpstr>
      <vt:lpstr>Multiplicidade</vt:lpstr>
      <vt:lpstr>Multiplicidade</vt:lpstr>
      <vt:lpstr>Tópicos a serem trabalhados na aula</vt:lpstr>
      <vt:lpstr>Papéis</vt:lpstr>
      <vt:lpstr>Tópicos a serem trabalhados na aula</vt:lpstr>
      <vt:lpstr>Relacionamentos e associações</vt:lpstr>
      <vt:lpstr>Tópicos a serem trabalhados na aula</vt:lpstr>
      <vt:lpstr>Associação unária ou reflexiva</vt:lpstr>
      <vt:lpstr>Associação binária</vt:lpstr>
      <vt:lpstr>Tópicos a serem trabalhados na aula</vt:lpstr>
      <vt:lpstr>Associações ternárias ou N-árias</vt:lpstr>
      <vt:lpstr>Tópicos a serem trabalhados na aula</vt:lpstr>
      <vt:lpstr>Visibilidade</vt:lpstr>
      <vt:lpstr>Visibilidade</vt:lpstr>
      <vt:lpstr>Herança</vt:lpstr>
      <vt:lpstr>Tópicos a serem trabalhados na aula</vt:lpstr>
      <vt:lpstr>Tópicos a serem trabalhados na aula</vt:lpstr>
      <vt:lpstr>Polimorfismo</vt:lpstr>
      <vt:lpstr>Polimorfismo</vt:lpstr>
      <vt:lpstr>Etapa 2 – Conceitos avançados</vt:lpstr>
      <vt:lpstr>Tópicos a serem trabalhados na aula</vt:lpstr>
      <vt:lpstr>Tópicos a serem trabalhados na aula</vt:lpstr>
      <vt:lpstr>Dependências </vt:lpstr>
      <vt:lpstr>Dependências ou Associação</vt:lpstr>
      <vt:lpstr>Tópicos a serem trabalhados na aula</vt:lpstr>
      <vt:lpstr>Agregação</vt:lpstr>
      <vt:lpstr>Exemplo 1</vt:lpstr>
      <vt:lpstr>Exemplo 2</vt:lpstr>
      <vt:lpstr>Exemplo 3</vt:lpstr>
      <vt:lpstr>Construa o diagrama de classes para a situação a seguir:</vt:lpstr>
      <vt:lpstr>Construa o diagrama de classes para a situação a seguir</vt:lpstr>
      <vt:lpstr>Agregação</vt:lpstr>
      <vt:lpstr>Tópicos a serem trabalhados na aula</vt:lpstr>
      <vt:lpstr>Composição</vt:lpstr>
      <vt:lpstr>Exemplo 1</vt:lpstr>
      <vt:lpstr>Desenvolva o diagrama de classes para a situação a seguir:</vt:lpstr>
      <vt:lpstr>Desenvolva o diagrama de classes para a situação a seguir:</vt:lpstr>
      <vt:lpstr>Devemos classificar a associação a seguir com o tipo composição ou agregação?</vt:lpstr>
      <vt:lpstr>Devemos classificar a associação a seguir com o tipo composição ou agregação?</vt:lpstr>
      <vt:lpstr>IMPORTANTE</vt:lpstr>
      <vt:lpstr>Devemos classificar a associação a seguir com o tipo composição ou agregação?</vt:lpstr>
      <vt:lpstr>A composição ou agregação deve apenas ser utilizada quando se tratar de uma relação todo-parte.       Por vezes, indica-se a existência da relação de agregação/ composição quando o objetivo é indicar a deleção em cascata dos objetos dependentes. O elemento por indicar a ocorrência, ou não, da deleção em cascata é a multiplicidade.</vt:lpstr>
      <vt:lpstr>Tópicos a serem trabalhados na aula</vt:lpstr>
      <vt:lpstr>Generalização/ especialização</vt:lpstr>
      <vt:lpstr>Generalização/ especialização</vt:lpstr>
      <vt:lpstr>Tópicos a serem trabalhados na aula</vt:lpstr>
      <vt:lpstr>Classe Associativa</vt:lpstr>
      <vt:lpstr>Classe Associativa</vt:lpstr>
      <vt:lpstr>Como representaríamos, através do diagrama de classes, o caso em que o ator pode ter mais de dois papéis em um filme?</vt:lpstr>
      <vt:lpstr>Como representaríamos, através do diagrama de classes, o caso em que o ator pode ter mais de dois papéis em um filme?  Nesse caso, não utilizamos a classe associativa, mas sim, uma classe comum. </vt:lpstr>
      <vt:lpstr>Como representaríamos, através do diagrama de classes, o caso em que o ator pode ter mais de dois papéis em um filme?</vt:lpstr>
      <vt:lpstr>Pendente:</vt:lpstr>
      <vt:lpstr>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Engenharia de Requisitos - UML</dc:title>
  <dc:creator>Denise Maciel</dc:creator>
  <cp:lastModifiedBy>Denise Do Rocio Maciel</cp:lastModifiedBy>
  <cp:revision>5</cp:revision>
  <dcterms:modified xsi:type="dcterms:W3CDTF">2026-09-03T14:33:06Z</dcterms:modified>
</cp:coreProperties>
</file>