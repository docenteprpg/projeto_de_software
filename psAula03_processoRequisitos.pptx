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9822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66928" y="1965960"/>
            <a:ext cx="7680960" cy="1737360"/>
          </a:xfrm>
          <a:prstGeom prst="rect">
            <a:avLst/>
          </a:prstGeom>
          <a:noFill/>
          <a:ln/>
        </p:spPr>
        <p:txBody>
          <a:bodyPr wrap="square" rtlCol="0" anchor="ctr"/>
          <a:lstStyle/>
          <a:p>
            <a:pPr marL="0" indent="0" algn="l">
              <a:lnSpc>
                <a:spcPts val="4600"/>
              </a:lnSpc>
              <a:buNone/>
            </a:pPr>
            <a:r>
              <a:rPr lang="en-US" sz="4000" b="1" dirty="0">
                <a:solidFill>
                  <a:srgbClr val="1A1A1A"/>
                </a:solidFill>
                <a:latin typeface="Calibri" pitchFamily="34" charset="0"/>
                <a:ea typeface="Calibri" pitchFamily="34" charset="-122"/>
                <a:cs typeface="Calibri" pitchFamily="34" charset="-120"/>
              </a:rPr>
              <a:t>Engenharia de</a:t>
            </a:r>
            <a:endParaRPr lang="en-US" sz="4000" dirty="0"/>
          </a:p>
          <a:p>
            <a:pPr marL="0" indent="0" algn="l">
              <a:lnSpc>
                <a:spcPts val="4600"/>
              </a:lnSpc>
              <a:buNone/>
            </a:pPr>
            <a:r>
              <a:rPr lang="en-US" sz="4000" b="1" dirty="0">
                <a:solidFill>
                  <a:srgbClr val="1A1A1A"/>
                </a:solidFill>
                <a:latin typeface="Calibri" pitchFamily="34" charset="0"/>
                <a:ea typeface="Calibri" pitchFamily="34" charset="-122"/>
                <a:cs typeface="Calibri" pitchFamily="34" charset="-120"/>
              </a:rPr>
              <a:t>Requisitos – UML</a:t>
            </a:r>
            <a:endParaRPr lang="en-US" sz="4000" dirty="0"/>
          </a:p>
        </p:txBody>
      </p:sp>
      <p:sp>
        <p:nvSpPr>
          <p:cNvPr id="3" name="Text 1"/>
          <p:cNvSpPr/>
          <p:nvPr/>
        </p:nvSpPr>
        <p:spPr>
          <a:xfrm>
            <a:off x="566928" y="3977640"/>
            <a:ext cx="7680960" cy="914400"/>
          </a:xfrm>
          <a:prstGeom prst="rect">
            <a:avLst/>
          </a:prstGeom>
          <a:noFill/>
          <a:ln/>
        </p:spPr>
        <p:txBody>
          <a:bodyPr wrap="square" rtlCol="0" anchor="ctr"/>
          <a:lstStyle/>
          <a:p>
            <a:pPr marL="0" indent="0">
              <a:lnSpc>
                <a:spcPts val="2600"/>
              </a:lnSpc>
              <a:buNone/>
            </a:pPr>
            <a:r>
              <a:rPr lang="en-US" sz="1800" dirty="0">
                <a:solidFill>
                  <a:srgbClr val="595959"/>
                </a:solidFill>
                <a:latin typeface="Calibri" pitchFamily="34" charset="0"/>
                <a:ea typeface="Calibri" pitchFamily="34" charset="-122"/>
                <a:cs typeface="Calibri" pitchFamily="34" charset="-120"/>
              </a:rPr>
              <a:t>Aula 03: Processo de Engenharia de Requisitos</a:t>
            </a:r>
            <a:endParaRPr lang="en-US" sz="1800" dirty="0"/>
          </a:p>
          <a:p>
            <a:pPr marL="0" indent="0">
              <a:lnSpc>
                <a:spcPts val="2600"/>
              </a:lnSpc>
              <a:buNone/>
            </a:pPr>
            <a:r>
              <a:rPr lang="en-US" sz="1800" dirty="0">
                <a:solidFill>
                  <a:srgbClr val="595959"/>
                </a:solidFill>
                <a:latin typeface="Calibri" pitchFamily="34" charset="0"/>
                <a:ea typeface="Calibri" pitchFamily="34" charset="-122"/>
                <a:cs typeface="Calibri" pitchFamily="34" charset="-120"/>
              </a:rPr>
              <a:t>Profª Me. Denise do Rocio Maciel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502920"/>
            <a:ext cx="12191695" cy="731520"/>
          </a:xfrm>
          <a:prstGeom prst="rect">
            <a:avLst/>
          </a:prstGeom>
          <a:noFill/>
          <a:ln/>
        </p:spPr>
        <p:txBody>
          <a:bodyPr wrap="square" rtlCol="0" anchor="ctr"/>
          <a:lstStyle/>
          <a:p>
            <a:pPr marL="0" indent="0" algn="ctr">
              <a:buNone/>
            </a:pPr>
            <a:r>
              <a:rPr lang="en-US" sz="3000" b="1" dirty="0">
                <a:solidFill>
                  <a:srgbClr val="1A1A1A"/>
                </a:solidFill>
                <a:latin typeface="Calibri" pitchFamily="34" charset="0"/>
                <a:ea typeface="Calibri" pitchFamily="34" charset="-122"/>
                <a:cs typeface="Calibri" pitchFamily="34" charset="-120"/>
              </a:rPr>
              <a:t>Etapas do curso</a:t>
            </a:r>
            <a:endParaRPr lang="en-US" sz="3000" dirty="0"/>
          </a:p>
        </p:txBody>
      </p:sp>
      <p:sp>
        <p:nvSpPr>
          <p:cNvPr id="3" name="Text 1"/>
          <p:cNvSpPr/>
          <p:nvPr/>
        </p:nvSpPr>
        <p:spPr>
          <a:xfrm>
            <a:off x="685800" y="1874520"/>
            <a:ext cx="2011680" cy="548640"/>
          </a:xfrm>
          <a:prstGeom prst="rect">
            <a:avLst/>
          </a:prstGeom>
          <a:noFill/>
          <a:ln/>
        </p:spPr>
        <p:txBody>
          <a:bodyPr wrap="square" lIns="0" tIns="0" rIns="0" bIns="0"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1</a:t>
            </a:r>
            <a:endParaRPr lang="en-US" sz="2600" dirty="0"/>
          </a:p>
        </p:txBody>
      </p:sp>
      <p:sp>
        <p:nvSpPr>
          <p:cNvPr id="4" name="Text 2"/>
          <p:cNvSpPr/>
          <p:nvPr/>
        </p:nvSpPr>
        <p:spPr>
          <a:xfrm>
            <a:off x="685800" y="2395728"/>
            <a:ext cx="2011680" cy="320040"/>
          </a:xfrm>
          <a:prstGeom prst="rect">
            <a:avLst/>
          </a:prstGeom>
          <a:noFill/>
          <a:ln/>
        </p:spPr>
        <p:txBody>
          <a:bodyPr wrap="square" lIns="0" tIns="0" rIns="0" bIns="0" rtlCol="0" anchor="ctr"/>
          <a:lstStyle/>
          <a:p>
            <a:pPr marL="0" indent="0" algn="ctr">
              <a:buNone/>
            </a:pPr>
            <a:r>
              <a:rPr lang="en-US" sz="1100" b="1" kern="0" spc="200" dirty="0">
                <a:solidFill>
                  <a:srgbClr val="595959"/>
                </a:solidFill>
                <a:latin typeface="Calibri" pitchFamily="34" charset="0"/>
                <a:ea typeface="Calibri" pitchFamily="34" charset="-122"/>
                <a:cs typeface="Calibri" pitchFamily="34" charset="-120"/>
              </a:rPr>
              <a:t>PASSO</a:t>
            </a:r>
            <a:endParaRPr lang="en-US" sz="1100" dirty="0"/>
          </a:p>
        </p:txBody>
      </p:sp>
      <p:sp>
        <p:nvSpPr>
          <p:cNvPr id="5" name="Shape 3"/>
          <p:cNvSpPr/>
          <p:nvPr/>
        </p:nvSpPr>
        <p:spPr>
          <a:xfrm>
            <a:off x="1005840" y="2788920"/>
            <a:ext cx="1371600" cy="0"/>
          </a:xfrm>
          <a:prstGeom prst="line">
            <a:avLst/>
          </a:prstGeom>
          <a:noFill/>
          <a:ln w="12700">
            <a:solidFill>
              <a:srgbClr val="8C8C8C"/>
            </a:solidFill>
            <a:prstDash val="solid"/>
          </a:ln>
        </p:spPr>
        <p:txBody>
          <a:bodyPr/>
          <a:lstStyle/>
          <a:p>
            <a:endParaRPr lang="en-US"/>
          </a:p>
        </p:txBody>
      </p:sp>
      <p:sp>
        <p:nvSpPr>
          <p:cNvPr id="6" name="Text 4"/>
          <p:cNvSpPr/>
          <p:nvPr/>
        </p:nvSpPr>
        <p:spPr>
          <a:xfrm>
            <a:off x="685800" y="2926080"/>
            <a:ext cx="2011680" cy="1371600"/>
          </a:xfrm>
          <a:prstGeom prst="rect">
            <a:avLst/>
          </a:prstGeom>
          <a:noFill/>
          <a:ln/>
        </p:spPr>
        <p:txBody>
          <a:bodyPr wrap="square" lIns="0" tIns="0" rIns="0" bIns="0" rtlCol="0" anchor="t"/>
          <a:lstStyle/>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Apresentação de conceitos elementares</a:t>
            </a:r>
            <a:endParaRPr lang="en-US" sz="1300" dirty="0"/>
          </a:p>
        </p:txBody>
      </p:sp>
      <p:sp>
        <p:nvSpPr>
          <p:cNvPr id="7" name="Text 5"/>
          <p:cNvSpPr/>
          <p:nvPr/>
        </p:nvSpPr>
        <p:spPr>
          <a:xfrm>
            <a:off x="2898648" y="1874520"/>
            <a:ext cx="2011680" cy="548640"/>
          </a:xfrm>
          <a:prstGeom prst="rect">
            <a:avLst/>
          </a:prstGeom>
          <a:noFill/>
          <a:ln/>
        </p:spPr>
        <p:txBody>
          <a:bodyPr wrap="square" lIns="0" tIns="0" rIns="0" bIns="0"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2</a:t>
            </a:r>
            <a:endParaRPr lang="en-US" sz="2600" dirty="0"/>
          </a:p>
        </p:txBody>
      </p:sp>
      <p:sp>
        <p:nvSpPr>
          <p:cNvPr id="8" name="Text 6"/>
          <p:cNvSpPr/>
          <p:nvPr/>
        </p:nvSpPr>
        <p:spPr>
          <a:xfrm>
            <a:off x="2898648" y="2395728"/>
            <a:ext cx="2011680" cy="320040"/>
          </a:xfrm>
          <a:prstGeom prst="rect">
            <a:avLst/>
          </a:prstGeom>
          <a:noFill/>
          <a:ln/>
        </p:spPr>
        <p:txBody>
          <a:bodyPr wrap="square" lIns="0" tIns="0" rIns="0" bIns="0" rtlCol="0" anchor="ctr"/>
          <a:lstStyle/>
          <a:p>
            <a:pPr marL="0" indent="0" algn="ctr">
              <a:buNone/>
            </a:pPr>
            <a:r>
              <a:rPr lang="en-US" sz="1100" b="1" kern="0" spc="200" dirty="0">
                <a:solidFill>
                  <a:srgbClr val="1A1A1A"/>
                </a:solidFill>
                <a:latin typeface="Calibri" pitchFamily="34" charset="0"/>
                <a:ea typeface="Calibri" pitchFamily="34" charset="-122"/>
                <a:cs typeface="Calibri" pitchFamily="34" charset="-120"/>
              </a:rPr>
              <a:t>PASSO</a:t>
            </a:r>
            <a:endParaRPr lang="en-US" sz="1100" dirty="0"/>
          </a:p>
        </p:txBody>
      </p:sp>
      <p:sp>
        <p:nvSpPr>
          <p:cNvPr id="9" name="Shape 7"/>
          <p:cNvSpPr/>
          <p:nvPr/>
        </p:nvSpPr>
        <p:spPr>
          <a:xfrm>
            <a:off x="3218688" y="2788920"/>
            <a:ext cx="1371600" cy="0"/>
          </a:xfrm>
          <a:prstGeom prst="line">
            <a:avLst/>
          </a:prstGeom>
          <a:noFill/>
          <a:ln w="25400">
            <a:solidFill>
              <a:srgbClr val="1A1A1A"/>
            </a:solidFill>
            <a:prstDash val="solid"/>
          </a:ln>
        </p:spPr>
        <p:txBody>
          <a:bodyPr/>
          <a:lstStyle/>
          <a:p>
            <a:endParaRPr lang="en-US"/>
          </a:p>
        </p:txBody>
      </p:sp>
      <p:sp>
        <p:nvSpPr>
          <p:cNvPr id="10" name="Text 8"/>
          <p:cNvSpPr/>
          <p:nvPr/>
        </p:nvSpPr>
        <p:spPr>
          <a:xfrm>
            <a:off x="2898648" y="2926080"/>
            <a:ext cx="2011680" cy="1371600"/>
          </a:xfrm>
          <a:prstGeom prst="rect">
            <a:avLst/>
          </a:prstGeom>
          <a:noFill/>
          <a:ln/>
        </p:spPr>
        <p:txBody>
          <a:bodyPr wrap="square" lIns="0" tIns="0" rIns="0" bIns="0" rtlCol="0" anchor="t"/>
          <a:lstStyle/>
          <a:p>
            <a:pPr marL="0" indent="0" algn="ctr">
              <a:lnSpc>
                <a:spcPts val="1800"/>
              </a:lnSpc>
              <a:buNone/>
            </a:pPr>
            <a:r>
              <a:rPr lang="en-US" sz="1300" b="1" dirty="0">
                <a:solidFill>
                  <a:srgbClr val="1A1A1A"/>
                </a:solidFill>
                <a:latin typeface="Calibri" pitchFamily="34" charset="0"/>
                <a:ea typeface="Calibri" pitchFamily="34" charset="-122"/>
                <a:cs typeface="Calibri" pitchFamily="34" charset="-120"/>
              </a:rPr>
              <a:t>Identificação dos requisitos do sistema</a:t>
            </a:r>
            <a:endParaRPr lang="en-US" sz="1300" dirty="0"/>
          </a:p>
        </p:txBody>
      </p:sp>
      <p:sp>
        <p:nvSpPr>
          <p:cNvPr id="11" name="Text 9"/>
          <p:cNvSpPr/>
          <p:nvPr/>
        </p:nvSpPr>
        <p:spPr>
          <a:xfrm>
            <a:off x="5111496" y="1874520"/>
            <a:ext cx="2011680" cy="548640"/>
          </a:xfrm>
          <a:prstGeom prst="rect">
            <a:avLst/>
          </a:prstGeom>
          <a:noFill/>
          <a:ln/>
        </p:spPr>
        <p:txBody>
          <a:bodyPr wrap="square" lIns="0" tIns="0" rIns="0" bIns="0"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3</a:t>
            </a:r>
            <a:endParaRPr lang="en-US" sz="2600" dirty="0"/>
          </a:p>
        </p:txBody>
      </p:sp>
      <p:sp>
        <p:nvSpPr>
          <p:cNvPr id="12" name="Text 10"/>
          <p:cNvSpPr/>
          <p:nvPr/>
        </p:nvSpPr>
        <p:spPr>
          <a:xfrm>
            <a:off x="5111496" y="2395728"/>
            <a:ext cx="2011680" cy="320040"/>
          </a:xfrm>
          <a:prstGeom prst="rect">
            <a:avLst/>
          </a:prstGeom>
          <a:noFill/>
          <a:ln/>
        </p:spPr>
        <p:txBody>
          <a:bodyPr wrap="square" lIns="0" tIns="0" rIns="0" bIns="0" rtlCol="0" anchor="ctr"/>
          <a:lstStyle/>
          <a:p>
            <a:pPr marL="0" indent="0" algn="ctr">
              <a:buNone/>
            </a:pPr>
            <a:r>
              <a:rPr lang="en-US" sz="1100" b="1" kern="0" spc="200" dirty="0">
                <a:solidFill>
                  <a:srgbClr val="595959"/>
                </a:solidFill>
                <a:latin typeface="Calibri" pitchFamily="34" charset="0"/>
                <a:ea typeface="Calibri" pitchFamily="34" charset="-122"/>
                <a:cs typeface="Calibri" pitchFamily="34" charset="-120"/>
              </a:rPr>
              <a:t>PASSO</a:t>
            </a:r>
            <a:endParaRPr lang="en-US" sz="1100" dirty="0"/>
          </a:p>
        </p:txBody>
      </p:sp>
      <p:sp>
        <p:nvSpPr>
          <p:cNvPr id="13" name="Shape 11"/>
          <p:cNvSpPr/>
          <p:nvPr/>
        </p:nvSpPr>
        <p:spPr>
          <a:xfrm>
            <a:off x="5431536" y="2788920"/>
            <a:ext cx="1371600" cy="0"/>
          </a:xfrm>
          <a:prstGeom prst="line">
            <a:avLst/>
          </a:prstGeom>
          <a:noFill/>
          <a:ln w="12700">
            <a:solidFill>
              <a:srgbClr val="8C8C8C"/>
            </a:solidFill>
            <a:prstDash val="solid"/>
          </a:ln>
        </p:spPr>
        <p:txBody>
          <a:bodyPr/>
          <a:lstStyle/>
          <a:p>
            <a:endParaRPr lang="en-US"/>
          </a:p>
        </p:txBody>
      </p:sp>
      <p:sp>
        <p:nvSpPr>
          <p:cNvPr id="14" name="Text 12"/>
          <p:cNvSpPr/>
          <p:nvPr/>
        </p:nvSpPr>
        <p:spPr>
          <a:xfrm>
            <a:off x="5111496" y="2926080"/>
            <a:ext cx="2011680" cy="1371600"/>
          </a:xfrm>
          <a:prstGeom prst="rect">
            <a:avLst/>
          </a:prstGeom>
          <a:noFill/>
          <a:ln/>
        </p:spPr>
        <p:txBody>
          <a:bodyPr wrap="square" lIns="0" tIns="0" rIns="0" bIns="0" rtlCol="0" anchor="t"/>
          <a:lstStyle/>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Técnicas para levantamento de requisitos</a:t>
            </a:r>
            <a:endParaRPr lang="en-US" sz="1300" dirty="0"/>
          </a:p>
        </p:txBody>
      </p:sp>
      <p:sp>
        <p:nvSpPr>
          <p:cNvPr id="15" name="Text 13"/>
          <p:cNvSpPr/>
          <p:nvPr/>
        </p:nvSpPr>
        <p:spPr>
          <a:xfrm>
            <a:off x="7324344" y="1874520"/>
            <a:ext cx="2011680" cy="548640"/>
          </a:xfrm>
          <a:prstGeom prst="rect">
            <a:avLst/>
          </a:prstGeom>
          <a:noFill/>
          <a:ln/>
        </p:spPr>
        <p:txBody>
          <a:bodyPr wrap="square" lIns="0" tIns="0" rIns="0" bIns="0"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4</a:t>
            </a:r>
            <a:endParaRPr lang="en-US" sz="2600" dirty="0"/>
          </a:p>
        </p:txBody>
      </p:sp>
      <p:sp>
        <p:nvSpPr>
          <p:cNvPr id="16" name="Text 14"/>
          <p:cNvSpPr/>
          <p:nvPr/>
        </p:nvSpPr>
        <p:spPr>
          <a:xfrm>
            <a:off x="7324344" y="2395728"/>
            <a:ext cx="2011680" cy="320040"/>
          </a:xfrm>
          <a:prstGeom prst="rect">
            <a:avLst/>
          </a:prstGeom>
          <a:noFill/>
          <a:ln/>
        </p:spPr>
        <p:txBody>
          <a:bodyPr wrap="square" lIns="0" tIns="0" rIns="0" bIns="0" rtlCol="0" anchor="ctr"/>
          <a:lstStyle/>
          <a:p>
            <a:pPr marL="0" indent="0" algn="ctr">
              <a:buNone/>
            </a:pPr>
            <a:r>
              <a:rPr lang="en-US" sz="1100" b="1" kern="0" spc="200" dirty="0">
                <a:solidFill>
                  <a:srgbClr val="595959"/>
                </a:solidFill>
                <a:latin typeface="Calibri" pitchFamily="34" charset="0"/>
                <a:ea typeface="Calibri" pitchFamily="34" charset="-122"/>
                <a:cs typeface="Calibri" pitchFamily="34" charset="-120"/>
              </a:rPr>
              <a:t>PASSO</a:t>
            </a:r>
            <a:endParaRPr lang="en-US" sz="1100" dirty="0"/>
          </a:p>
        </p:txBody>
      </p:sp>
      <p:sp>
        <p:nvSpPr>
          <p:cNvPr id="17" name="Shape 15"/>
          <p:cNvSpPr/>
          <p:nvPr/>
        </p:nvSpPr>
        <p:spPr>
          <a:xfrm>
            <a:off x="7644384" y="2788920"/>
            <a:ext cx="1371600" cy="0"/>
          </a:xfrm>
          <a:prstGeom prst="line">
            <a:avLst/>
          </a:prstGeom>
          <a:noFill/>
          <a:ln w="12700">
            <a:solidFill>
              <a:srgbClr val="8C8C8C"/>
            </a:solidFill>
            <a:prstDash val="solid"/>
          </a:ln>
        </p:spPr>
        <p:txBody>
          <a:bodyPr/>
          <a:lstStyle/>
          <a:p>
            <a:endParaRPr lang="en-US"/>
          </a:p>
        </p:txBody>
      </p:sp>
      <p:sp>
        <p:nvSpPr>
          <p:cNvPr id="18" name="Text 16"/>
          <p:cNvSpPr/>
          <p:nvPr/>
        </p:nvSpPr>
        <p:spPr>
          <a:xfrm>
            <a:off x="7324344" y="2926080"/>
            <a:ext cx="2011680" cy="1371600"/>
          </a:xfrm>
          <a:prstGeom prst="rect">
            <a:avLst/>
          </a:prstGeom>
          <a:noFill/>
          <a:ln/>
        </p:spPr>
        <p:txBody>
          <a:bodyPr wrap="square" lIns="0" tIns="0" rIns="0" bIns="0" rtlCol="0" anchor="t"/>
          <a:lstStyle/>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Diagramas UML</a:t>
            </a:r>
            <a:endParaRPr lang="en-US" sz="1300" dirty="0"/>
          </a:p>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Parte I</a:t>
            </a:r>
            <a:endParaRPr lang="en-US" sz="1300" dirty="0"/>
          </a:p>
        </p:txBody>
      </p:sp>
      <p:sp>
        <p:nvSpPr>
          <p:cNvPr id="19" name="Text 17"/>
          <p:cNvSpPr/>
          <p:nvPr/>
        </p:nvSpPr>
        <p:spPr>
          <a:xfrm>
            <a:off x="9537192" y="1874520"/>
            <a:ext cx="2011680" cy="548640"/>
          </a:xfrm>
          <a:prstGeom prst="rect">
            <a:avLst/>
          </a:prstGeom>
          <a:noFill/>
          <a:ln/>
        </p:spPr>
        <p:txBody>
          <a:bodyPr wrap="square" lIns="0" tIns="0" rIns="0" bIns="0" rtlCol="0" anchor="ctr"/>
          <a:lstStyle/>
          <a:p>
            <a:pPr marL="0" indent="0" algn="ctr">
              <a:buNone/>
            </a:pPr>
            <a:r>
              <a:rPr lang="en-US" sz="2600" b="1" dirty="0">
                <a:solidFill>
                  <a:srgbClr val="1A1A1A"/>
                </a:solidFill>
                <a:latin typeface="Calibri" pitchFamily="34" charset="0"/>
                <a:ea typeface="Calibri" pitchFamily="34" charset="-122"/>
                <a:cs typeface="Calibri" pitchFamily="34" charset="-120"/>
              </a:rPr>
              <a:t>5</a:t>
            </a:r>
            <a:endParaRPr lang="en-US" sz="2600" dirty="0"/>
          </a:p>
        </p:txBody>
      </p:sp>
      <p:sp>
        <p:nvSpPr>
          <p:cNvPr id="20" name="Text 18"/>
          <p:cNvSpPr/>
          <p:nvPr/>
        </p:nvSpPr>
        <p:spPr>
          <a:xfrm>
            <a:off x="9537192" y="2395728"/>
            <a:ext cx="2011680" cy="320040"/>
          </a:xfrm>
          <a:prstGeom prst="rect">
            <a:avLst/>
          </a:prstGeom>
          <a:noFill/>
          <a:ln/>
        </p:spPr>
        <p:txBody>
          <a:bodyPr wrap="square" lIns="0" tIns="0" rIns="0" bIns="0" rtlCol="0" anchor="ctr"/>
          <a:lstStyle/>
          <a:p>
            <a:pPr marL="0" indent="0" algn="ctr">
              <a:buNone/>
            </a:pPr>
            <a:r>
              <a:rPr lang="en-US" sz="1100" b="1" kern="0" spc="200" dirty="0">
                <a:solidFill>
                  <a:srgbClr val="595959"/>
                </a:solidFill>
                <a:latin typeface="Calibri" pitchFamily="34" charset="0"/>
                <a:ea typeface="Calibri" pitchFamily="34" charset="-122"/>
                <a:cs typeface="Calibri" pitchFamily="34" charset="-120"/>
              </a:rPr>
              <a:t>PASSO</a:t>
            </a:r>
            <a:endParaRPr lang="en-US" sz="1100" dirty="0"/>
          </a:p>
        </p:txBody>
      </p:sp>
      <p:sp>
        <p:nvSpPr>
          <p:cNvPr id="21" name="Shape 19"/>
          <p:cNvSpPr/>
          <p:nvPr/>
        </p:nvSpPr>
        <p:spPr>
          <a:xfrm>
            <a:off x="9857232" y="2788920"/>
            <a:ext cx="1371600" cy="0"/>
          </a:xfrm>
          <a:prstGeom prst="line">
            <a:avLst/>
          </a:prstGeom>
          <a:noFill/>
          <a:ln w="12700">
            <a:solidFill>
              <a:srgbClr val="8C8C8C"/>
            </a:solidFill>
            <a:prstDash val="solid"/>
          </a:ln>
        </p:spPr>
        <p:txBody>
          <a:bodyPr/>
          <a:lstStyle/>
          <a:p>
            <a:endParaRPr lang="en-US"/>
          </a:p>
        </p:txBody>
      </p:sp>
      <p:sp>
        <p:nvSpPr>
          <p:cNvPr id="22" name="Text 20"/>
          <p:cNvSpPr/>
          <p:nvPr/>
        </p:nvSpPr>
        <p:spPr>
          <a:xfrm>
            <a:off x="9537192" y="2926080"/>
            <a:ext cx="2011680" cy="1371600"/>
          </a:xfrm>
          <a:prstGeom prst="rect">
            <a:avLst/>
          </a:prstGeom>
          <a:noFill/>
          <a:ln/>
        </p:spPr>
        <p:txBody>
          <a:bodyPr wrap="square" lIns="0" tIns="0" rIns="0" bIns="0" rtlCol="0" anchor="t"/>
          <a:lstStyle/>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Diagramas UML</a:t>
            </a:r>
            <a:endParaRPr lang="en-US" sz="1300" dirty="0"/>
          </a:p>
          <a:p>
            <a:pPr marL="0" indent="0" algn="ctr">
              <a:lnSpc>
                <a:spcPts val="1800"/>
              </a:lnSpc>
              <a:buNone/>
            </a:pPr>
            <a:r>
              <a:rPr lang="en-US" sz="1300" dirty="0">
                <a:solidFill>
                  <a:srgbClr val="595959"/>
                </a:solidFill>
                <a:latin typeface="Calibri" pitchFamily="34" charset="0"/>
                <a:ea typeface="Calibri" pitchFamily="34" charset="-122"/>
                <a:cs typeface="Calibri" pitchFamily="34" charset="-120"/>
              </a:rPr>
              <a:t>Parte II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822960"/>
            <a:ext cx="11057839" cy="685800"/>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Na aula passada</a:t>
            </a:r>
            <a:endParaRPr lang="en-US" sz="3000" dirty="0"/>
          </a:p>
        </p:txBody>
      </p:sp>
      <p:pic>
        <p:nvPicPr>
          <p:cNvPr id="3" name="Image 0" descr="preencoded.png"/>
          <p:cNvPicPr>
            <a:picLocks noChangeAspect="1"/>
          </p:cNvPicPr>
          <p:nvPr/>
        </p:nvPicPr>
        <p:blipFill>
          <a:blip r:embed="rId3"/>
          <a:stretch>
            <a:fillRect/>
          </a:stretch>
        </p:blipFill>
        <p:spPr>
          <a:xfrm>
            <a:off x="438912" y="1764792"/>
            <a:ext cx="3502152" cy="1828800"/>
          </a:xfrm>
          <a:prstGeom prst="rect">
            <a:avLst/>
          </a:prstGeom>
        </p:spPr>
      </p:pic>
      <p:pic>
        <p:nvPicPr>
          <p:cNvPr id="4" name="Image 1" descr="preencoded.png"/>
          <p:cNvPicPr>
            <a:picLocks noChangeAspect="1"/>
          </p:cNvPicPr>
          <p:nvPr/>
        </p:nvPicPr>
        <p:blipFill>
          <a:blip r:embed="rId4"/>
          <a:stretch>
            <a:fillRect/>
          </a:stretch>
        </p:blipFill>
        <p:spPr>
          <a:xfrm>
            <a:off x="5907024" y="484632"/>
            <a:ext cx="5724144" cy="2551176"/>
          </a:xfrm>
          <a:prstGeom prst="rect">
            <a:avLst/>
          </a:prstGeom>
        </p:spPr>
      </p:pic>
      <p:pic>
        <p:nvPicPr>
          <p:cNvPr id="5" name="Image 2" descr="preencoded.png"/>
          <p:cNvPicPr>
            <a:picLocks noChangeAspect="1"/>
          </p:cNvPicPr>
          <p:nvPr/>
        </p:nvPicPr>
        <p:blipFill>
          <a:blip r:embed="rId5"/>
          <a:stretch>
            <a:fillRect/>
          </a:stretch>
        </p:blipFill>
        <p:spPr>
          <a:xfrm>
            <a:off x="475488" y="3163824"/>
            <a:ext cx="7488936" cy="34838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1188720"/>
            <a:ext cx="11057839" cy="685800"/>
          </a:xfrm>
          <a:prstGeom prst="rect">
            <a:avLst/>
          </a:prstGeom>
          <a:noFill/>
          <a:ln/>
        </p:spPr>
        <p:txBody>
          <a:bodyPr wrap="square" lIns="0" tIns="0" rIns="0" bIns="0" rtlCol="0" anchor="ctr"/>
          <a:lstStyle/>
          <a:p>
            <a:pPr marL="0" indent="0" algn="l">
              <a:buNone/>
            </a:pPr>
            <a:r>
              <a:rPr lang="en-US" sz="3400" b="1" dirty="0">
                <a:solidFill>
                  <a:srgbClr val="1A1A1A"/>
                </a:solidFill>
                <a:latin typeface="Calibri" pitchFamily="34" charset="0"/>
                <a:ea typeface="Calibri" pitchFamily="34" charset="-122"/>
                <a:cs typeface="Calibri" pitchFamily="34" charset="-120"/>
              </a:rPr>
              <a:t>Agenda</a:t>
            </a:r>
            <a:endParaRPr lang="en-US" sz="3400" dirty="0"/>
          </a:p>
        </p:txBody>
      </p:sp>
      <p:sp>
        <p:nvSpPr>
          <p:cNvPr id="3" name="Text 1"/>
          <p:cNvSpPr/>
          <p:nvPr/>
        </p:nvSpPr>
        <p:spPr>
          <a:xfrm>
            <a:off x="566928" y="2194560"/>
            <a:ext cx="11057839" cy="4846320"/>
          </a:xfrm>
          <a:prstGeom prst="rect">
            <a:avLst/>
          </a:prstGeom>
          <a:noFill/>
          <a:ln/>
        </p:spPr>
        <p:txBody>
          <a:bodyPr wrap="square" lIns="0" tIns="0" rIns="0" bIns="0" rtlCol="0" anchor="t"/>
          <a:lstStyle/>
          <a:p>
            <a:pPr marL="0" indent="0" algn="l">
              <a:lnSpc>
                <a:spcPts val="3400"/>
              </a:lnSpc>
              <a:buNone/>
            </a:pPr>
            <a:r>
              <a:rPr lang="en-US" sz="2000" b="1" dirty="0">
                <a:solidFill>
                  <a:srgbClr val="1A1A1A"/>
                </a:solidFill>
                <a:latin typeface="Calibri" pitchFamily="34" charset="0"/>
                <a:ea typeface="Calibri" pitchFamily="34" charset="-122"/>
                <a:cs typeface="Calibri" pitchFamily="34" charset="-120"/>
              </a:rPr>
              <a:t>Processo da eng. de requisitos</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&gt;&gt; Elicitação</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&gt;&gt; Análise</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&gt;&gt; Especificação</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&gt;&gt; Validação</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Processo da Engenharia de Requisitos</a:t>
            </a:r>
            <a:endParaRPr lang="en-US" sz="2800" dirty="0"/>
          </a:p>
        </p:txBody>
      </p:sp>
      <p:sp>
        <p:nvSpPr>
          <p:cNvPr id="3" name="Text 1"/>
          <p:cNvSpPr/>
          <p:nvPr/>
        </p:nvSpPr>
        <p:spPr>
          <a:xfrm>
            <a:off x="566928" y="1463040"/>
            <a:ext cx="5669280" cy="219456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Processo de compreensão, identificação e definição dos serviços e das restrições referentes à operação e ao desenvolvimento dos sistemas de software (Somerville (2011, p. 57)).</a:t>
            </a:r>
            <a:endParaRPr lang="en-US" sz="1800" dirty="0"/>
          </a:p>
        </p:txBody>
      </p:sp>
      <p:pic>
        <p:nvPicPr>
          <p:cNvPr id="4" name="Image 0" descr="preencoded.png"/>
          <p:cNvPicPr>
            <a:picLocks noChangeAspect="1"/>
          </p:cNvPicPr>
          <p:nvPr/>
        </p:nvPicPr>
        <p:blipFill>
          <a:blip r:embed="rId3"/>
          <a:stretch>
            <a:fillRect/>
          </a:stretch>
        </p:blipFill>
        <p:spPr>
          <a:xfrm>
            <a:off x="6501384" y="3712464"/>
            <a:ext cx="5532120" cy="29443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Processo da Engenharia de Requisitos</a:t>
            </a:r>
            <a:endParaRPr lang="en-US" sz="2800" dirty="0"/>
          </a:p>
        </p:txBody>
      </p:sp>
      <p:sp>
        <p:nvSpPr>
          <p:cNvPr id="3" name="Text 1"/>
          <p:cNvSpPr/>
          <p:nvPr/>
        </p:nvSpPr>
        <p:spPr>
          <a:xfrm>
            <a:off x="566928" y="1417320"/>
            <a:ext cx="11057839" cy="25603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Os processos de engenharia de requisitos podem incluir quatro atividades de alto nível. Elas visam avaliar se o sistema é útil para a empresa, </a:t>
            </a:r>
            <a:r>
              <a:rPr lang="en-US" sz="1800" b="1" dirty="0">
                <a:solidFill>
                  <a:srgbClr val="1A1A1A"/>
                </a:solidFill>
                <a:latin typeface="Calibri" pitchFamily="34" charset="0"/>
                <a:ea typeface="Calibri" pitchFamily="34" charset="-122"/>
                <a:cs typeface="Calibri" pitchFamily="34" charset="-120"/>
              </a:rPr>
              <a:t>descobrindo requisitos (elicitação e análise)</a:t>
            </a:r>
            <a:r>
              <a:rPr lang="en-US" sz="1800" dirty="0">
                <a:solidFill>
                  <a:srgbClr val="595959"/>
                </a:solidFill>
                <a:latin typeface="Calibri" pitchFamily="34" charset="0"/>
                <a:ea typeface="Calibri" pitchFamily="34" charset="-122"/>
                <a:cs typeface="Calibri" pitchFamily="34" charset="-120"/>
              </a:rPr>
              <a:t>, convertendo-os em alguma </a:t>
            </a:r>
            <a:r>
              <a:rPr lang="en-US" sz="1800" b="1" dirty="0">
                <a:solidFill>
                  <a:srgbClr val="1A1A1A"/>
                </a:solidFill>
                <a:latin typeface="Calibri" pitchFamily="34" charset="0"/>
                <a:ea typeface="Calibri" pitchFamily="34" charset="-122"/>
                <a:cs typeface="Calibri" pitchFamily="34" charset="-120"/>
              </a:rPr>
              <a:t>forma-padrão (especificação)</a:t>
            </a:r>
            <a:r>
              <a:rPr lang="en-US" sz="1800" dirty="0">
                <a:solidFill>
                  <a:srgbClr val="595959"/>
                </a:solidFill>
                <a:latin typeface="Calibri" pitchFamily="34" charset="0"/>
                <a:ea typeface="Calibri" pitchFamily="34" charset="-122"/>
                <a:cs typeface="Calibri" pitchFamily="34" charset="-120"/>
              </a:rPr>
              <a:t>, e verificar </a:t>
            </a:r>
            <a:r>
              <a:rPr lang="en-US" sz="1800" b="1" dirty="0">
                <a:solidFill>
                  <a:srgbClr val="1A1A1A"/>
                </a:solidFill>
                <a:latin typeface="Calibri" pitchFamily="34" charset="0"/>
                <a:ea typeface="Calibri" pitchFamily="34" charset="-122"/>
                <a:cs typeface="Calibri" pitchFamily="34" charset="-120"/>
              </a:rPr>
              <a:t>se os requisitos realmente definem o sistema que o cliente quer (validação)</a:t>
            </a:r>
            <a:r>
              <a:rPr lang="en-US" sz="1800" dirty="0">
                <a:solidFill>
                  <a:srgbClr val="595959"/>
                </a:solidFill>
                <a:latin typeface="Calibri" pitchFamily="34" charset="0"/>
                <a:ea typeface="Calibri" pitchFamily="34" charset="-122"/>
                <a:cs typeface="Calibri" pitchFamily="34" charset="-120"/>
              </a:rPr>
              <a:t>.</a:t>
            </a:r>
            <a:endParaRPr lang="en-US" sz="1800" dirty="0"/>
          </a:p>
        </p:txBody>
      </p:sp>
      <p:sp>
        <p:nvSpPr>
          <p:cNvPr id="4" name="Shape 2"/>
          <p:cNvSpPr/>
          <p:nvPr/>
        </p:nvSpPr>
        <p:spPr>
          <a:xfrm>
            <a:off x="1755648" y="4553712"/>
            <a:ext cx="1965960" cy="1005840"/>
          </a:xfrm>
          <a:prstGeom prst="rect">
            <a:avLst/>
          </a:prstGeom>
          <a:solidFill>
            <a:srgbClr val="FFFFFF"/>
          </a:solidFill>
          <a:ln w="12700">
            <a:solidFill>
              <a:srgbClr val="8C8C8C"/>
            </a:solidFill>
            <a:prstDash val="solid"/>
          </a:ln>
        </p:spPr>
        <p:txBody>
          <a:bodyPr/>
          <a:lstStyle/>
          <a:p>
            <a:endParaRPr lang="en-US"/>
          </a:p>
        </p:txBody>
      </p:sp>
      <p:sp>
        <p:nvSpPr>
          <p:cNvPr id="5" name="Text 3"/>
          <p:cNvSpPr/>
          <p:nvPr/>
        </p:nvSpPr>
        <p:spPr>
          <a:xfrm>
            <a:off x="1755648" y="455371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6" name="Shape 4"/>
          <p:cNvSpPr/>
          <p:nvPr/>
        </p:nvSpPr>
        <p:spPr>
          <a:xfrm>
            <a:off x="3749040" y="5056632"/>
            <a:ext cx="210312" cy="0"/>
          </a:xfrm>
          <a:prstGeom prst="line">
            <a:avLst/>
          </a:prstGeom>
          <a:noFill/>
          <a:ln w="12700">
            <a:solidFill>
              <a:srgbClr val="8C8C8C"/>
            </a:solidFill>
            <a:prstDash val="solid"/>
            <a:tailEnd type="triangle"/>
          </a:ln>
        </p:spPr>
        <p:txBody>
          <a:bodyPr/>
          <a:lstStyle/>
          <a:p>
            <a:endParaRPr lang="en-US"/>
          </a:p>
        </p:txBody>
      </p:sp>
      <p:sp>
        <p:nvSpPr>
          <p:cNvPr id="7" name="Shape 5"/>
          <p:cNvSpPr/>
          <p:nvPr/>
        </p:nvSpPr>
        <p:spPr>
          <a:xfrm>
            <a:off x="3986784" y="4553712"/>
            <a:ext cx="1965960" cy="1005840"/>
          </a:xfrm>
          <a:prstGeom prst="rect">
            <a:avLst/>
          </a:prstGeom>
          <a:solidFill>
            <a:srgbClr val="FFFFFF"/>
          </a:solidFill>
          <a:ln w="12700">
            <a:solidFill>
              <a:srgbClr val="8C8C8C"/>
            </a:solidFill>
            <a:prstDash val="solid"/>
          </a:ln>
        </p:spPr>
        <p:txBody>
          <a:bodyPr/>
          <a:lstStyle/>
          <a:p>
            <a:endParaRPr lang="en-US"/>
          </a:p>
        </p:txBody>
      </p:sp>
      <p:sp>
        <p:nvSpPr>
          <p:cNvPr id="8" name="Text 6"/>
          <p:cNvSpPr/>
          <p:nvPr/>
        </p:nvSpPr>
        <p:spPr>
          <a:xfrm>
            <a:off x="3986784" y="455371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9" name="Shape 7"/>
          <p:cNvSpPr/>
          <p:nvPr/>
        </p:nvSpPr>
        <p:spPr>
          <a:xfrm>
            <a:off x="5980176" y="5056632"/>
            <a:ext cx="210312" cy="0"/>
          </a:xfrm>
          <a:prstGeom prst="line">
            <a:avLst/>
          </a:prstGeom>
          <a:noFill/>
          <a:ln w="12700">
            <a:solidFill>
              <a:srgbClr val="8C8C8C"/>
            </a:solidFill>
            <a:prstDash val="solid"/>
            <a:tailEnd type="triangle"/>
          </a:ln>
        </p:spPr>
        <p:txBody>
          <a:bodyPr/>
          <a:lstStyle/>
          <a:p>
            <a:endParaRPr lang="en-US"/>
          </a:p>
        </p:txBody>
      </p:sp>
      <p:sp>
        <p:nvSpPr>
          <p:cNvPr id="10" name="Shape 8"/>
          <p:cNvSpPr/>
          <p:nvPr/>
        </p:nvSpPr>
        <p:spPr>
          <a:xfrm>
            <a:off x="6217920" y="4553712"/>
            <a:ext cx="1965960" cy="1005840"/>
          </a:xfrm>
          <a:prstGeom prst="rect">
            <a:avLst/>
          </a:prstGeom>
          <a:solidFill>
            <a:srgbClr val="FFFFFF"/>
          </a:solidFill>
          <a:ln w="12700">
            <a:solidFill>
              <a:srgbClr val="8C8C8C"/>
            </a:solidFill>
            <a:prstDash val="solid"/>
          </a:ln>
        </p:spPr>
        <p:txBody>
          <a:bodyPr/>
          <a:lstStyle/>
          <a:p>
            <a:endParaRPr lang="en-US"/>
          </a:p>
        </p:txBody>
      </p:sp>
      <p:sp>
        <p:nvSpPr>
          <p:cNvPr id="11" name="Text 9"/>
          <p:cNvSpPr/>
          <p:nvPr/>
        </p:nvSpPr>
        <p:spPr>
          <a:xfrm>
            <a:off x="6217920" y="455371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2" name="Shape 10"/>
          <p:cNvSpPr/>
          <p:nvPr/>
        </p:nvSpPr>
        <p:spPr>
          <a:xfrm>
            <a:off x="8211312" y="5056632"/>
            <a:ext cx="210312" cy="0"/>
          </a:xfrm>
          <a:prstGeom prst="line">
            <a:avLst/>
          </a:prstGeom>
          <a:noFill/>
          <a:ln w="12700">
            <a:solidFill>
              <a:srgbClr val="8C8C8C"/>
            </a:solidFill>
            <a:prstDash val="solid"/>
            <a:tailEnd type="triangle"/>
          </a:ln>
        </p:spPr>
        <p:txBody>
          <a:bodyPr/>
          <a:lstStyle/>
          <a:p>
            <a:endParaRPr lang="en-US"/>
          </a:p>
        </p:txBody>
      </p:sp>
      <p:sp>
        <p:nvSpPr>
          <p:cNvPr id="13" name="Shape 11"/>
          <p:cNvSpPr/>
          <p:nvPr/>
        </p:nvSpPr>
        <p:spPr>
          <a:xfrm>
            <a:off x="8449056" y="4553712"/>
            <a:ext cx="1965960" cy="1005840"/>
          </a:xfrm>
          <a:prstGeom prst="rect">
            <a:avLst/>
          </a:prstGeom>
          <a:solidFill>
            <a:srgbClr val="FFFFFF"/>
          </a:solidFill>
          <a:ln w="12700">
            <a:solidFill>
              <a:srgbClr val="8C8C8C"/>
            </a:solidFill>
            <a:prstDash val="solid"/>
          </a:ln>
        </p:spPr>
        <p:txBody>
          <a:bodyPr/>
          <a:lstStyle/>
          <a:p>
            <a:endParaRPr lang="en-US"/>
          </a:p>
        </p:txBody>
      </p:sp>
      <p:sp>
        <p:nvSpPr>
          <p:cNvPr id="14" name="Text 12"/>
          <p:cNvSpPr/>
          <p:nvPr/>
        </p:nvSpPr>
        <p:spPr>
          <a:xfrm>
            <a:off x="8449056" y="455371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Processo da Engenharia de Requisitos</a:t>
            </a:r>
            <a:endParaRPr lang="en-US" sz="2800" dirty="0"/>
          </a:p>
        </p:txBody>
      </p:sp>
      <p:sp>
        <p:nvSpPr>
          <p:cNvPr id="3" name="Shape 1"/>
          <p:cNvSpPr/>
          <p:nvPr/>
        </p:nvSpPr>
        <p:spPr>
          <a:xfrm>
            <a:off x="1755648" y="1773936"/>
            <a:ext cx="1965960" cy="1005840"/>
          </a:xfrm>
          <a:prstGeom prst="rect">
            <a:avLst/>
          </a:prstGeom>
          <a:solidFill>
            <a:srgbClr val="FFFFFF"/>
          </a:solidFill>
          <a:ln w="12700">
            <a:solidFill>
              <a:srgbClr val="8C8C8C"/>
            </a:solidFill>
            <a:prstDash val="solid"/>
          </a:ln>
        </p:spPr>
        <p:txBody>
          <a:bodyPr/>
          <a:lstStyle/>
          <a:p>
            <a:endParaRPr lang="en-US"/>
          </a:p>
        </p:txBody>
      </p:sp>
      <p:sp>
        <p:nvSpPr>
          <p:cNvPr id="4" name="Text 2"/>
          <p:cNvSpPr/>
          <p:nvPr/>
        </p:nvSpPr>
        <p:spPr>
          <a:xfrm>
            <a:off x="1755648" y="1773936"/>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276856"/>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773936"/>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773936"/>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276856"/>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773936"/>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773936"/>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276856"/>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773936"/>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773936"/>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Text 12"/>
          <p:cNvSpPr/>
          <p:nvPr/>
        </p:nvSpPr>
        <p:spPr>
          <a:xfrm>
            <a:off x="822960" y="4297680"/>
            <a:ext cx="5486400" cy="1645920"/>
          </a:xfrm>
          <a:prstGeom prst="rect">
            <a:avLst/>
          </a:prstGeom>
          <a:noFill/>
          <a:ln/>
        </p:spPr>
        <p:txBody>
          <a:bodyPr wrap="square" lIns="0" tIns="0" rIns="0" bIns="0" rtlCol="0" anchor="t"/>
          <a:lstStyle/>
          <a:p>
            <a:pPr marL="0" indent="0" algn="ctr">
              <a:lnSpc>
                <a:spcPts val="3000"/>
              </a:lnSpc>
              <a:buNone/>
            </a:pPr>
            <a:r>
              <a:rPr lang="en-US" sz="2000" b="1" dirty="0">
                <a:solidFill>
                  <a:srgbClr val="1A1A1A"/>
                </a:solidFill>
                <a:latin typeface="Calibri" pitchFamily="34" charset="0"/>
                <a:ea typeface="Calibri" pitchFamily="34" charset="-122"/>
                <a:cs typeface="Calibri" pitchFamily="34" charset="-120"/>
              </a:rPr>
              <a:t>*Na prática, a engenharia de requisitos é um processo iterativo em que as atividades são intercaladas.</a:t>
            </a:r>
            <a:endParaRPr lang="en-US" sz="2000" dirty="0"/>
          </a:p>
        </p:txBody>
      </p:sp>
      <p:pic>
        <p:nvPicPr>
          <p:cNvPr id="15" name="Image 0" descr="preencoded.png"/>
          <p:cNvPicPr>
            <a:picLocks noChangeAspect="1"/>
          </p:cNvPicPr>
          <p:nvPr/>
        </p:nvPicPr>
        <p:blipFill>
          <a:blip r:embed="rId3"/>
          <a:stretch>
            <a:fillRect/>
          </a:stretch>
        </p:blipFill>
        <p:spPr>
          <a:xfrm>
            <a:off x="7863840" y="3337560"/>
            <a:ext cx="3776472" cy="3337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Processo da Engenharia de Requisitos</a:t>
            </a:r>
            <a:endParaRPr lang="en-US" sz="2800" dirty="0"/>
          </a:p>
        </p:txBody>
      </p:sp>
      <p:sp>
        <p:nvSpPr>
          <p:cNvPr id="3" name="Shape 1"/>
          <p:cNvSpPr/>
          <p:nvPr/>
        </p:nvSpPr>
        <p:spPr>
          <a:xfrm>
            <a:off x="1755648" y="2816352"/>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2816352"/>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3319272"/>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3319272"/>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3319272"/>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Shape 1"/>
          <p:cNvSpPr/>
          <p:nvPr/>
        </p:nvSpPr>
        <p:spPr>
          <a:xfrm>
            <a:off x="1755648" y="2816352"/>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2816352"/>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3319272"/>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3319272"/>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3319272"/>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2816352"/>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2816352"/>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Text 1"/>
          <p:cNvSpPr/>
          <p:nvPr/>
        </p:nvSpPr>
        <p:spPr>
          <a:xfrm>
            <a:off x="566928" y="1371600"/>
            <a:ext cx="11057839" cy="173736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Nessa atividade, os engenheiros de software trabalham com clientes e usuários finais do sistema para obter informações sobre o domínio da aplicação, os serviços que o sistema deve oferecer, o desempenho do sistema, restrições de hardware e assim por diante.</a:t>
            </a:r>
            <a:endParaRPr lang="en-US" sz="1800" dirty="0"/>
          </a:p>
        </p:txBody>
      </p:sp>
      <p:sp>
        <p:nvSpPr>
          <p:cNvPr id="4" name="Text 2"/>
          <p:cNvSpPr/>
          <p:nvPr/>
        </p:nvSpPr>
        <p:spPr>
          <a:xfrm>
            <a:off x="566928" y="3383280"/>
            <a:ext cx="6949440" cy="2926080"/>
          </a:xfrm>
          <a:prstGeom prst="rect">
            <a:avLst/>
          </a:prstGeom>
          <a:noFill/>
          <a:ln/>
        </p:spPr>
        <p:txBody>
          <a:bodyPr wrap="square" lIns="0" tIns="0" rIns="0" bIns="0" rtlCol="0" anchor="t"/>
          <a:lstStyle/>
          <a:p>
            <a:pPr marL="0" indent="0" algn="l">
              <a:lnSpc>
                <a:spcPts val="2800"/>
              </a:lnSpc>
              <a:buNone/>
            </a:pPr>
            <a:r>
              <a:rPr lang="en-US" sz="1800" b="1" dirty="0">
                <a:solidFill>
                  <a:srgbClr val="1A1A1A"/>
                </a:solidFill>
                <a:latin typeface="Calibri" pitchFamily="34" charset="0"/>
                <a:ea typeface="Calibri" pitchFamily="34" charset="-122"/>
                <a:cs typeface="Calibri" pitchFamily="34" charset="-120"/>
              </a:rPr>
              <a:t>Stakeholder:</a:t>
            </a:r>
            <a:r>
              <a:rPr lang="en-US" sz="1800" dirty="0">
                <a:solidFill>
                  <a:srgbClr val="595959"/>
                </a:solidFill>
                <a:latin typeface="Calibri" pitchFamily="34" charset="0"/>
                <a:ea typeface="Calibri" pitchFamily="34" charset="-122"/>
                <a:cs typeface="Calibri" pitchFamily="34" charset="-120"/>
              </a:rPr>
              <a:t> quem tem alguma influência direta ou indireta sobre os requisitos do sistema.</a:t>
            </a:r>
            <a:endParaRPr lang="en-US" sz="1800" dirty="0"/>
          </a:p>
          <a:p>
            <a:pPr marL="0" indent="0" algn="l">
              <a:lnSpc>
                <a:spcPts val="2800"/>
              </a:lnSpc>
              <a:buNone/>
            </a:pPr>
            <a:r>
              <a:rPr lang="en-US" sz="1800" dirty="0">
                <a:solidFill>
                  <a:srgbClr val="595959"/>
                </a:solidFill>
                <a:latin typeface="Calibri" pitchFamily="34" charset="0"/>
                <a:ea typeface="Calibri" pitchFamily="34" charset="-122"/>
                <a:cs typeface="Calibri" pitchFamily="34" charset="-120"/>
              </a:rPr>
              <a:t>Pode-se citar como exemplo: quem irá interagir com o sistema, quem será afetado pelo sistema, engenheiros, desenvolvedores, gerentes de negócio, especialistas de domínio, entre outros.</a:t>
            </a:r>
            <a:endParaRPr lang="en-US" sz="1800" dirty="0"/>
          </a:p>
        </p:txBody>
      </p:sp>
      <p:pic>
        <p:nvPicPr>
          <p:cNvPr id="5" name="Image 0" descr="preencoded.png"/>
          <p:cNvPicPr>
            <a:picLocks noChangeAspect="1"/>
          </p:cNvPicPr>
          <p:nvPr/>
        </p:nvPicPr>
        <p:blipFill>
          <a:blip r:embed="rId3"/>
          <a:stretch>
            <a:fillRect/>
          </a:stretch>
        </p:blipFill>
        <p:spPr>
          <a:xfrm>
            <a:off x="7781544" y="3785616"/>
            <a:ext cx="4187952" cy="2770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468880"/>
            <a:ext cx="10424160" cy="1828800"/>
          </a:xfrm>
          <a:prstGeom prst="rect">
            <a:avLst/>
          </a:prstGeom>
          <a:noFill/>
          <a:ln/>
        </p:spPr>
        <p:txBody>
          <a:bodyPr wrap="square" rtlCol="0" anchor="ctr"/>
          <a:lstStyle/>
          <a:p>
            <a:pPr marL="0" indent="0" algn="l">
              <a:lnSpc>
                <a:spcPts val="4200"/>
              </a:lnSpc>
              <a:buNone/>
            </a:pPr>
            <a:r>
              <a:rPr lang="en-US" sz="3000" b="1" dirty="0">
                <a:solidFill>
                  <a:srgbClr val="1A1A1A"/>
                </a:solidFill>
                <a:latin typeface="Calibri" pitchFamily="34" charset="0"/>
                <a:ea typeface="Calibri" pitchFamily="34" charset="-122"/>
                <a:cs typeface="Calibri" pitchFamily="34" charset="-120"/>
              </a:rPr>
              <a:t>Quem poderiam ser os stakeholders de um sistema de saúde mental?</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411480"/>
            <a:ext cx="11057839" cy="1005840"/>
          </a:xfrm>
          <a:prstGeom prst="rect">
            <a:avLst/>
          </a:prstGeom>
          <a:noFill/>
          <a:ln/>
        </p:spPr>
        <p:txBody>
          <a:bodyPr wrap="square" lIns="0" tIns="0" rIns="0" bIns="0" rtlCol="0" anchor="ctr"/>
          <a:lstStyle/>
          <a:p>
            <a:pPr marL="0" indent="0" algn="l">
              <a:buNone/>
            </a:pPr>
            <a:r>
              <a:rPr lang="en-US" sz="2400" b="1" dirty="0">
                <a:solidFill>
                  <a:srgbClr val="1A1A1A"/>
                </a:solidFill>
                <a:latin typeface="Calibri" pitchFamily="34" charset="0"/>
                <a:ea typeface="Calibri" pitchFamily="34" charset="-122"/>
                <a:cs typeface="Calibri" pitchFamily="34" charset="-120"/>
              </a:rPr>
              <a:t>Quem poderiam ser os stakeholders de um sistema de saúde mental?</a:t>
            </a:r>
            <a:endParaRPr lang="en-US" sz="2400" dirty="0"/>
          </a:p>
        </p:txBody>
      </p:sp>
      <p:sp>
        <p:nvSpPr>
          <p:cNvPr id="3" name="Text 1"/>
          <p:cNvSpPr/>
          <p:nvPr/>
        </p:nvSpPr>
        <p:spPr>
          <a:xfrm>
            <a:off x="566928" y="1691640"/>
            <a:ext cx="11057839" cy="4846320"/>
          </a:xfrm>
          <a:prstGeom prst="rect">
            <a:avLst/>
          </a:prstGeom>
          <a:noFill/>
          <a:ln/>
        </p:spPr>
        <p:txBody>
          <a:bodyPr wrap="square" lIns="0" tIns="0" rIns="0" bIns="0" rtlCol="0" anchor="t"/>
          <a:lstStyle/>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1. Pacientes.</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2. Médicos.</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3. Enfermeiros.</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4. Recepcionistas dos médicos.</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5. Equipe de TI, responsável pela instalação e manutenção do sistema.</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6. Gerente de ética médica, que deve garantir que o sistema atenda às diretrizes éticas atuais no atendimento ao paciente.</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7. Gerentes de saúde, que obtêm informações de gerenciamento a partir do sistema.</a:t>
            </a:r>
            <a:endParaRPr lang="en-US" sz="1700" dirty="0"/>
          </a:p>
          <a:p>
            <a:pPr marL="0" indent="0" algn="l">
              <a:lnSpc>
                <a:spcPts val="3000"/>
              </a:lnSpc>
              <a:buNone/>
            </a:pPr>
            <a:r>
              <a:rPr lang="en-US" sz="1700" dirty="0">
                <a:solidFill>
                  <a:srgbClr val="595959"/>
                </a:solidFill>
                <a:latin typeface="Calibri" pitchFamily="34" charset="0"/>
                <a:ea typeface="Calibri" pitchFamily="34" charset="-122"/>
                <a:cs typeface="Calibri" pitchFamily="34" charset="-120"/>
              </a:rPr>
              <a:t>8. A equipe de registros médicos, responsável por garantir que as informações do sistema sejam mantidas e preservadas.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D9D9D9"/>
          </a:solidFill>
          <a:ln w="25400">
            <a:solidFill>
              <a:srgbClr val="1A1A1A"/>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Entrevistas</a:t>
            </a:r>
            <a:endParaRPr lang="en-US" sz="2800" dirty="0"/>
          </a:p>
        </p:txBody>
      </p:sp>
      <p:sp>
        <p:nvSpPr>
          <p:cNvPr id="3" name="Text 1"/>
          <p:cNvSpPr/>
          <p:nvPr/>
        </p:nvSpPr>
        <p:spPr>
          <a:xfrm>
            <a:off x="566928" y="1371600"/>
            <a:ext cx="11057839" cy="48463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Podem ser formais ou informais e são indicadas para obter uma compreensão global sobre o que os stakeholders fazem, como eles podem interagir com o novo sistema e as dificuldades que eles enfrentam com os sistemas atuais.</a:t>
            </a:r>
            <a:endParaRPr lang="en-US" sz="1800" dirty="0"/>
          </a:p>
          <a:p>
            <a:pPr marL="0" indent="0" algn="just">
              <a:lnSpc>
                <a:spcPts val="2800"/>
              </a:lnSpc>
              <a:buNone/>
            </a:pPr>
            <a:endParaRPr lang="en-US" sz="1800" dirty="0"/>
          </a:p>
          <a:p>
            <a:pPr marL="0" indent="0" algn="just">
              <a:lnSpc>
                <a:spcPts val="2800"/>
              </a:lnSpc>
              <a:buNone/>
            </a:pPr>
            <a:r>
              <a:rPr lang="en-US" sz="1800" b="1" dirty="0">
                <a:solidFill>
                  <a:srgbClr val="1A1A1A"/>
                </a:solidFill>
                <a:latin typeface="Calibri" pitchFamily="34" charset="0"/>
                <a:ea typeface="Calibri" pitchFamily="34" charset="-122"/>
                <a:cs typeface="Calibri" pitchFamily="34" charset="-120"/>
              </a:rPr>
              <a:t>Tipos:</a:t>
            </a: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 Entrevistas fechadas: stakeholders respondem a conjunto predefinido de perguntas</a:t>
            </a: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 Entrevistas abertas: não há agenda pré-definida</a:t>
            </a:r>
            <a:endParaRPr lang="en-US" sz="1800" dirty="0"/>
          </a:p>
          <a:p>
            <a:pPr marL="0" indent="0" algn="just">
              <a:lnSpc>
                <a:spcPts val="2800"/>
              </a:lnSpc>
              <a:buNone/>
            </a:pPr>
            <a:endParaRPr lang="en-US" sz="1800" dirty="0"/>
          </a:p>
          <a:p>
            <a:pPr marL="0" indent="0" algn="just">
              <a:lnSpc>
                <a:spcPts val="2800"/>
              </a:lnSpc>
              <a:buNone/>
            </a:pPr>
            <a:r>
              <a:rPr lang="en-US" sz="1800" b="1" dirty="0">
                <a:solidFill>
                  <a:srgbClr val="1A1A1A"/>
                </a:solidFill>
                <a:latin typeface="Calibri" pitchFamily="34" charset="0"/>
                <a:ea typeface="Calibri" pitchFamily="34" charset="-122"/>
                <a:cs typeface="Calibri" pitchFamily="34" charset="-120"/>
              </a:rPr>
              <a:t>IMPORTANTE:</a:t>
            </a:r>
            <a:r>
              <a:rPr lang="en-US" sz="1800" dirty="0">
                <a:solidFill>
                  <a:srgbClr val="595959"/>
                </a:solidFill>
                <a:latin typeface="Calibri" pitchFamily="34" charset="0"/>
                <a:ea typeface="Calibri" pitchFamily="34" charset="-122"/>
                <a:cs typeface="Calibri" pitchFamily="34" charset="-120"/>
              </a:rPr>
              <a:t> as entrevistas não são tão úteis na compreensão dos requisitos do domínio (conhecimento utilizado em determinada área) da aplicação.</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Entrevistas – Etapa 1</a:t>
            </a:r>
            <a:endParaRPr lang="en-US" sz="2800" dirty="0"/>
          </a:p>
        </p:txBody>
      </p:sp>
      <p:sp>
        <p:nvSpPr>
          <p:cNvPr id="3" name="Text 1"/>
          <p:cNvSpPr/>
          <p:nvPr/>
        </p:nvSpPr>
        <p:spPr>
          <a:xfrm>
            <a:off x="566928" y="1554480"/>
            <a:ext cx="11057839" cy="4846320"/>
          </a:xfrm>
          <a:prstGeom prst="rect">
            <a:avLst/>
          </a:prstGeom>
          <a:noFill/>
          <a:ln/>
        </p:spPr>
        <p:txBody>
          <a:bodyPr wrap="square" lIns="0" tIns="0" rIns="0" bIns="0" rtlCol="0" anchor="t"/>
          <a:lstStyle/>
          <a:p>
            <a:pPr marL="0" indent="0" algn="l">
              <a:lnSpc>
                <a:spcPts val="3400"/>
              </a:lnSpc>
              <a:buNone/>
            </a:pPr>
            <a:r>
              <a:rPr lang="en-US" sz="2000" b="1" dirty="0">
                <a:solidFill>
                  <a:srgbClr val="1A1A1A"/>
                </a:solidFill>
                <a:latin typeface="Calibri" pitchFamily="34" charset="0"/>
                <a:ea typeface="Calibri" pitchFamily="34" charset="-122"/>
                <a:cs typeface="Calibri" pitchFamily="34" charset="-120"/>
              </a:rPr>
              <a:t>Etapa 1 – compreender benefícios e metas do projeto globais:</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 Quem está por trás da solicitação deste trabalho?</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 Quem vai usar a solução?</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 Qual será o benefício econômico de uma solução bem sucedida?</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 Há outra fonte para a solução de que você precisa?</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Entrevistas – Etapa 2</a:t>
            </a:r>
            <a:endParaRPr lang="en-US" sz="2800" dirty="0"/>
          </a:p>
        </p:txBody>
      </p:sp>
      <p:sp>
        <p:nvSpPr>
          <p:cNvPr id="3" name="Text 1"/>
          <p:cNvSpPr/>
          <p:nvPr/>
        </p:nvSpPr>
        <p:spPr>
          <a:xfrm>
            <a:off x="566928" y="1554480"/>
            <a:ext cx="11057839" cy="4846320"/>
          </a:xfrm>
          <a:prstGeom prst="rect">
            <a:avLst/>
          </a:prstGeom>
          <a:noFill/>
          <a:ln/>
        </p:spPr>
        <p:txBody>
          <a:bodyPr wrap="square" lIns="0" tIns="0" rIns="0" bIns="0" rtlCol="0" anchor="t"/>
          <a:lstStyle/>
          <a:p>
            <a:pPr marL="0" indent="0" algn="l">
              <a:lnSpc>
                <a:spcPts val="3200"/>
              </a:lnSpc>
              <a:buNone/>
            </a:pPr>
            <a:r>
              <a:rPr lang="en-US" sz="1900" b="1" dirty="0">
                <a:solidFill>
                  <a:srgbClr val="1A1A1A"/>
                </a:solidFill>
                <a:latin typeface="Calibri" pitchFamily="34" charset="0"/>
                <a:ea typeface="Calibri" pitchFamily="34" charset="-122"/>
                <a:cs typeface="Calibri" pitchFamily="34" charset="-120"/>
              </a:rPr>
              <a:t>Etapa 2 – Compreender o problema</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Como você caracteriza uma “boa” saída que seria gerada por uma solução bem sucedida?</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Quais problemas essa solução vai resolver?</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Você poderia me indicar (ou descrever) o ambiente de negócios em que a solução será usada?</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Aspectos ou restrições de desempenho afetam a maneira com que a solução será abordada?</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Entrevistas – Etapa 3</a:t>
            </a:r>
            <a:endParaRPr lang="en-US" sz="2800" dirty="0"/>
          </a:p>
        </p:txBody>
      </p:sp>
      <p:sp>
        <p:nvSpPr>
          <p:cNvPr id="3" name="Text 1"/>
          <p:cNvSpPr/>
          <p:nvPr/>
        </p:nvSpPr>
        <p:spPr>
          <a:xfrm>
            <a:off x="566928" y="1554480"/>
            <a:ext cx="11057839" cy="4846320"/>
          </a:xfrm>
          <a:prstGeom prst="rect">
            <a:avLst/>
          </a:prstGeom>
          <a:noFill/>
          <a:ln/>
        </p:spPr>
        <p:txBody>
          <a:bodyPr wrap="square" lIns="0" tIns="0" rIns="0" bIns="0" rtlCol="0" anchor="t"/>
          <a:lstStyle/>
          <a:p>
            <a:pPr marL="0" indent="0" algn="l">
              <a:lnSpc>
                <a:spcPts val="3200"/>
              </a:lnSpc>
              <a:buNone/>
            </a:pPr>
            <a:r>
              <a:rPr lang="en-US" sz="1900" b="1" dirty="0">
                <a:solidFill>
                  <a:srgbClr val="1A1A1A"/>
                </a:solidFill>
                <a:latin typeface="Calibri" pitchFamily="34" charset="0"/>
                <a:ea typeface="Calibri" pitchFamily="34" charset="-122"/>
                <a:cs typeface="Calibri" pitchFamily="34" charset="-120"/>
              </a:rPr>
              <a:t>Etapa 3 – Eficiência da atividade</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Você é a pessoa correta para responder a estas perguntas? Suas respostas são “oficiais”?</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Minhas perguntas são relevantes para o problema que você tem?</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Estaria eu fazendo perguntas demais?</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Alguém poderia me prestar informações adicionais?</a:t>
            </a:r>
            <a:endParaRPr lang="en-US" sz="1900" dirty="0"/>
          </a:p>
          <a:p>
            <a:pPr marL="0" indent="0" algn="l">
              <a:lnSpc>
                <a:spcPts val="3200"/>
              </a:lnSpc>
              <a:buNone/>
            </a:pPr>
            <a:r>
              <a:rPr lang="en-US" sz="1900" dirty="0">
                <a:solidFill>
                  <a:srgbClr val="595959"/>
                </a:solidFill>
                <a:latin typeface="Calibri" pitchFamily="34" charset="0"/>
                <a:ea typeface="Calibri" pitchFamily="34" charset="-122"/>
                <a:cs typeface="Calibri" pitchFamily="34" charset="-120"/>
              </a:rPr>
              <a:t>- Deveria eu perguntar-lhe algo mais?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D9D9D9"/>
          </a:solidFill>
          <a:ln w="25400">
            <a:solidFill>
              <a:srgbClr val="1A1A1A"/>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a:t>
            </a:r>
            <a:endParaRPr lang="en-US" sz="2800" dirty="0"/>
          </a:p>
        </p:txBody>
      </p:sp>
      <p:sp>
        <p:nvSpPr>
          <p:cNvPr id="3" name="Text 1"/>
          <p:cNvSpPr/>
          <p:nvPr/>
        </p:nvSpPr>
        <p:spPr>
          <a:xfrm>
            <a:off x="566928" y="1463040"/>
            <a:ext cx="11057839" cy="201168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Utilizados para identificar detalhes a uma descrição geral de requisitos. Trata-se de esboço da interação.</a:t>
            </a:r>
            <a:endParaRPr lang="en-US" sz="1800" dirty="0"/>
          </a:p>
          <a:p>
            <a:pPr marL="0" indent="0" algn="just">
              <a:lnSpc>
                <a:spcPts val="2800"/>
              </a:lnSpc>
              <a:buNone/>
            </a:pPr>
            <a:endParaRPr lang="en-US" sz="1800" dirty="0"/>
          </a:p>
          <a:p>
            <a:pPr marL="0" indent="0" algn="just">
              <a:lnSpc>
                <a:spcPts val="2800"/>
              </a:lnSpc>
              <a:buNone/>
            </a:pPr>
            <a:r>
              <a:rPr lang="en-US" sz="1800" b="1" dirty="0">
                <a:solidFill>
                  <a:srgbClr val="1A1A1A"/>
                </a:solidFill>
                <a:latin typeface="Calibri" pitchFamily="34" charset="0"/>
                <a:ea typeface="Calibri" pitchFamily="34" charset="-122"/>
                <a:cs typeface="Calibri" pitchFamily="34" charset="-120"/>
              </a:rPr>
              <a:t>Dentre as formas de escrever cenários tem-se a técnica histórias de usuário.</a:t>
            </a:r>
            <a:endParaRPr lang="en-US" sz="1800" dirty="0"/>
          </a:p>
        </p:txBody>
      </p:sp>
      <p:sp>
        <p:nvSpPr>
          <p:cNvPr id="4" name="Shape 2"/>
          <p:cNvSpPr/>
          <p:nvPr/>
        </p:nvSpPr>
        <p:spPr>
          <a:xfrm>
            <a:off x="795528" y="3959352"/>
            <a:ext cx="2724912" cy="2377440"/>
          </a:xfrm>
          <a:prstGeom prst="roundRect">
            <a:avLst>
              <a:gd name="adj" fmla="val 2308"/>
            </a:avLst>
          </a:prstGeom>
          <a:solidFill>
            <a:srgbClr val="F2F2F2"/>
          </a:solidFill>
          <a:ln w="12700">
            <a:solidFill>
              <a:srgbClr val="8C8C8C"/>
            </a:solidFill>
            <a:prstDash val="solid"/>
          </a:ln>
        </p:spPr>
        <p:txBody>
          <a:bodyPr/>
          <a:lstStyle/>
          <a:p>
            <a:endParaRPr lang="en-US"/>
          </a:p>
        </p:txBody>
      </p:sp>
      <p:sp>
        <p:nvSpPr>
          <p:cNvPr id="5" name="Text 3"/>
          <p:cNvSpPr/>
          <p:nvPr/>
        </p:nvSpPr>
        <p:spPr>
          <a:xfrm>
            <a:off x="932688" y="4096512"/>
            <a:ext cx="2450592" cy="2103120"/>
          </a:xfrm>
          <a:prstGeom prst="rect">
            <a:avLst/>
          </a:prstGeom>
          <a:noFill/>
          <a:ln/>
        </p:spPr>
        <p:txBody>
          <a:bodyPr wrap="square" lIns="0" tIns="0" rIns="0" bIns="0" rtlCol="0" anchor="ctr"/>
          <a:lstStyle/>
          <a:p>
            <a:pPr marL="0" indent="0" algn="ctr">
              <a:lnSpc>
                <a:spcPts val="1950"/>
              </a:lnSpc>
              <a:buNone/>
            </a:pPr>
            <a:r>
              <a:rPr lang="en-US" sz="1300" dirty="0">
                <a:solidFill>
                  <a:srgbClr val="1A1A1A"/>
                </a:solidFill>
                <a:latin typeface="Courier New" pitchFamily="34" charset="0"/>
                <a:ea typeface="Courier New" pitchFamily="34" charset="-122"/>
                <a:cs typeface="Courier New" pitchFamily="34" charset="-120"/>
              </a:rPr>
              <a:t>Histórias de usuário</a:t>
            </a:r>
            <a:endParaRPr lang="en-US" sz="1300" dirty="0"/>
          </a:p>
          <a:p>
            <a:pPr marL="0" indent="0" algn="ctr">
              <a:lnSpc>
                <a:spcPts val="1950"/>
              </a:lnSpc>
              <a:buNone/>
            </a:pPr>
            <a:r>
              <a:rPr lang="en-US" sz="1300" dirty="0">
                <a:solidFill>
                  <a:srgbClr val="1A1A1A"/>
                </a:solidFill>
                <a:latin typeface="Courier New" pitchFamily="34" charset="0"/>
                <a:ea typeface="Courier New" pitchFamily="34" charset="-122"/>
                <a:cs typeface="Courier New" pitchFamily="34" charset="-120"/>
              </a:rPr>
              <a:t>(usadas </a:t>
            </a:r>
            <a:r>
              <a:rPr lang="en-US" sz="1300" dirty="0" err="1">
                <a:solidFill>
                  <a:srgbClr val="1A1A1A"/>
                </a:solidFill>
                <a:latin typeface="Courier New" pitchFamily="34" charset="0"/>
                <a:ea typeface="Courier New" pitchFamily="34" charset="-122"/>
                <a:cs typeface="Courier New" pitchFamily="34" charset="-120"/>
              </a:rPr>
              <a:t>em</a:t>
            </a:r>
            <a:r>
              <a:rPr lang="en-US" sz="1300" dirty="0">
                <a:solidFill>
                  <a:srgbClr val="1A1A1A"/>
                </a:solidFill>
                <a:latin typeface="Courier New" pitchFamily="34" charset="0"/>
                <a:ea typeface="Courier New" pitchFamily="34" charset="-122"/>
                <a:cs typeface="Courier New" pitchFamily="34" charset="-120"/>
              </a:rPr>
              <a:t> XP e Scrum)</a:t>
            </a:r>
            <a:endParaRPr lang="en-US" sz="1300" dirty="0"/>
          </a:p>
          <a:p>
            <a:pPr marL="0" indent="0" algn="ctr">
              <a:lnSpc>
                <a:spcPts val="1950"/>
              </a:lnSpc>
              <a:buNone/>
            </a:pPr>
            <a:r>
              <a:rPr lang="en-US" sz="1300" dirty="0">
                <a:solidFill>
                  <a:srgbClr val="1A1A1A"/>
                </a:solidFill>
                <a:latin typeface="Courier New" pitchFamily="34" charset="0"/>
                <a:ea typeface="Courier New" pitchFamily="34" charset="-122"/>
                <a:cs typeface="Courier New" pitchFamily="34" charset="-120"/>
              </a:rPr>
              <a:t>são um tipo</a:t>
            </a:r>
            <a:endParaRPr lang="en-US" sz="1300" dirty="0"/>
          </a:p>
          <a:p>
            <a:pPr marL="0" indent="0" algn="ctr">
              <a:lnSpc>
                <a:spcPts val="1950"/>
              </a:lnSpc>
              <a:buNone/>
            </a:pPr>
            <a:r>
              <a:rPr lang="en-US" sz="1300" dirty="0">
                <a:solidFill>
                  <a:srgbClr val="1A1A1A"/>
                </a:solidFill>
                <a:latin typeface="Courier New" pitchFamily="34" charset="0"/>
                <a:ea typeface="Courier New" pitchFamily="34" charset="-122"/>
                <a:cs typeface="Courier New" pitchFamily="34" charset="-120"/>
              </a:rPr>
              <a:t>de cenário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Histórias de Usuário</a:t>
            </a:r>
            <a:endParaRPr lang="en-US" sz="2800" dirty="0"/>
          </a:p>
        </p:txBody>
      </p:sp>
      <p:sp>
        <p:nvSpPr>
          <p:cNvPr id="3" name="Text 1"/>
          <p:cNvSpPr/>
          <p:nvPr/>
        </p:nvSpPr>
        <p:spPr>
          <a:xfrm>
            <a:off x="566928" y="1463040"/>
            <a:ext cx="6766560" cy="2743200"/>
          </a:xfrm>
          <a:prstGeom prst="rect">
            <a:avLst/>
          </a:prstGeom>
          <a:noFill/>
          <a:ln/>
        </p:spPr>
        <p:txBody>
          <a:bodyPr wrap="square" lIns="0" tIns="0" rIns="0" bIns="0" rtlCol="0" anchor="t"/>
          <a:lstStyle/>
          <a:p>
            <a:pPr marL="0" indent="0" algn="l">
              <a:lnSpc>
                <a:spcPts val="3000"/>
              </a:lnSpc>
              <a:buNone/>
            </a:pPr>
            <a:r>
              <a:rPr lang="en-US" sz="1800" b="1" dirty="0">
                <a:solidFill>
                  <a:srgbClr val="1A1A1A"/>
                </a:solidFill>
                <a:latin typeface="Calibri" pitchFamily="34" charset="0"/>
                <a:ea typeface="Calibri" pitchFamily="34" charset="-122"/>
                <a:cs typeface="Calibri" pitchFamily="34" charset="-120"/>
              </a:rPr>
              <a:t>Histórias de usuário descrevem os requisitos para o cliente ou comprador do projeto. Elas levantam dados como “quem”, “o quê” e “por quê” (Who?, What?, Why?).</a:t>
            </a:r>
            <a:endParaRPr lang="en-US" sz="1800" dirty="0"/>
          </a:p>
          <a:p>
            <a:pPr marL="0" indent="0" algn="l">
              <a:lnSpc>
                <a:spcPts val="3000"/>
              </a:lnSpc>
              <a:buNone/>
            </a:pPr>
            <a:r>
              <a:rPr lang="en-US" sz="1800" b="1" dirty="0">
                <a:solidFill>
                  <a:srgbClr val="1A1A1A"/>
                </a:solidFill>
                <a:latin typeface="Calibri" pitchFamily="34" charset="0"/>
                <a:ea typeface="Calibri" pitchFamily="34" charset="-122"/>
                <a:cs typeface="Calibri" pitchFamily="34" charset="-120"/>
              </a:rPr>
              <a:t>*Evitar escrever a palavra usuário</a:t>
            </a:r>
            <a:endParaRPr lang="en-US" sz="1800" dirty="0"/>
          </a:p>
        </p:txBody>
      </p:sp>
      <p:sp>
        <p:nvSpPr>
          <p:cNvPr id="4" name="Shape 2"/>
          <p:cNvSpPr/>
          <p:nvPr/>
        </p:nvSpPr>
        <p:spPr>
          <a:xfrm>
            <a:off x="7671816" y="2624328"/>
            <a:ext cx="3694176" cy="3017520"/>
          </a:xfrm>
          <a:prstGeom prst="roundRect">
            <a:avLst>
              <a:gd name="adj" fmla="val 1818"/>
            </a:avLst>
          </a:prstGeom>
          <a:solidFill>
            <a:srgbClr val="F2F2F2"/>
          </a:solidFill>
          <a:ln w="12700">
            <a:solidFill>
              <a:srgbClr val="8C8C8C"/>
            </a:solidFill>
            <a:prstDash val="solid"/>
          </a:ln>
        </p:spPr>
        <p:txBody>
          <a:bodyPr/>
          <a:lstStyle/>
          <a:p>
            <a:endParaRPr lang="en-US"/>
          </a:p>
        </p:txBody>
      </p:sp>
      <p:sp>
        <p:nvSpPr>
          <p:cNvPr id="5" name="Text 3"/>
          <p:cNvSpPr/>
          <p:nvPr/>
        </p:nvSpPr>
        <p:spPr>
          <a:xfrm>
            <a:off x="7808976" y="2761488"/>
            <a:ext cx="3419856" cy="2743200"/>
          </a:xfrm>
          <a:prstGeom prst="rect">
            <a:avLst/>
          </a:prstGeom>
          <a:noFill/>
          <a:ln/>
        </p:spPr>
        <p:txBody>
          <a:bodyPr wrap="square" lIns="0" tIns="0" rIns="0" bIns="0" rtlCol="0" anchor="ctr"/>
          <a:lstStyle/>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Como [Quem?],</a:t>
            </a:r>
            <a:endParaRPr lang="en-US" sz="1500" dirty="0"/>
          </a:p>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eu quero [O quê?]</a:t>
            </a:r>
            <a:endParaRPr lang="en-US" sz="1500" dirty="0"/>
          </a:p>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para [Por quê?]</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Histórias de Usuário</a:t>
            </a:r>
            <a:endParaRPr lang="en-US" sz="2800" dirty="0"/>
          </a:p>
        </p:txBody>
      </p:sp>
      <p:sp>
        <p:nvSpPr>
          <p:cNvPr id="3" name="Text 1"/>
          <p:cNvSpPr/>
          <p:nvPr/>
        </p:nvSpPr>
        <p:spPr>
          <a:xfrm>
            <a:off x="566928" y="1463040"/>
            <a:ext cx="6766560" cy="3291840"/>
          </a:xfrm>
          <a:prstGeom prst="rect">
            <a:avLst/>
          </a:prstGeom>
          <a:noFill/>
          <a:ln/>
        </p:spPr>
        <p:txBody>
          <a:bodyPr wrap="square" lIns="0" tIns="0" rIns="0" bIns="0" rtlCol="0" anchor="t"/>
          <a:lstStyle/>
          <a:p>
            <a:pPr marL="0" indent="0" algn="l">
              <a:lnSpc>
                <a:spcPts val="3200"/>
              </a:lnSpc>
              <a:buNone/>
            </a:pPr>
            <a:r>
              <a:rPr lang="en-US" sz="1800" b="1" dirty="0">
                <a:solidFill>
                  <a:srgbClr val="1A1A1A"/>
                </a:solidFill>
                <a:latin typeface="Calibri" pitchFamily="34" charset="0"/>
                <a:ea typeface="Calibri" pitchFamily="34" charset="-122"/>
                <a:cs typeface="Calibri" pitchFamily="34" charset="-120"/>
              </a:rPr>
              <a:t>Como ______, eu quero ______ para ______.</a:t>
            </a:r>
            <a:endParaRPr lang="en-US" sz="1800" dirty="0"/>
          </a:p>
          <a:p>
            <a:pPr marL="0" indent="0" algn="l">
              <a:lnSpc>
                <a:spcPts val="3200"/>
              </a:lnSpc>
              <a:buNone/>
            </a:pPr>
            <a:r>
              <a:rPr lang="en-US" sz="1800" b="1" dirty="0">
                <a:solidFill>
                  <a:srgbClr val="1A1A1A"/>
                </a:solidFill>
                <a:latin typeface="Calibri" pitchFamily="34" charset="0"/>
                <a:ea typeface="Calibri" pitchFamily="34" charset="-122"/>
                <a:cs typeface="Calibri" pitchFamily="34" charset="-120"/>
              </a:rPr>
              <a:t>Como </a:t>
            </a:r>
            <a:r>
              <a:rPr lang="en-US" sz="1800" b="1" i="1" dirty="0">
                <a:solidFill>
                  <a:srgbClr val="1A1A1A"/>
                </a:solidFill>
                <a:latin typeface="Calibri" pitchFamily="34" charset="0"/>
                <a:ea typeface="Calibri" pitchFamily="34" charset="-122"/>
                <a:cs typeface="Calibri" pitchFamily="34" charset="-120"/>
              </a:rPr>
              <a:t>uma recepcionista</a:t>
            </a:r>
            <a:r>
              <a:rPr lang="en-US" sz="1800" b="1" dirty="0">
                <a:solidFill>
                  <a:srgbClr val="1A1A1A"/>
                </a:solidFill>
                <a:latin typeface="Calibri" pitchFamily="34" charset="0"/>
                <a:ea typeface="Calibri" pitchFamily="34" charset="-122"/>
                <a:cs typeface="Calibri" pitchFamily="34" charset="-120"/>
              </a:rPr>
              <a:t>, eu quero </a:t>
            </a:r>
            <a:r>
              <a:rPr lang="en-US" sz="1800" b="1" i="1" dirty="0">
                <a:solidFill>
                  <a:srgbClr val="1A1A1A"/>
                </a:solidFill>
                <a:latin typeface="Calibri" pitchFamily="34" charset="0"/>
                <a:ea typeface="Calibri" pitchFamily="34" charset="-122"/>
                <a:cs typeface="Calibri" pitchFamily="34" charset="-120"/>
              </a:rPr>
              <a:t>cadastrar um novo usuário no sistema</a:t>
            </a:r>
            <a:r>
              <a:rPr lang="en-US" sz="1800" b="1" dirty="0">
                <a:solidFill>
                  <a:srgbClr val="1A1A1A"/>
                </a:solidFill>
                <a:latin typeface="Calibri" pitchFamily="34" charset="0"/>
                <a:ea typeface="Calibri" pitchFamily="34" charset="-122"/>
                <a:cs typeface="Calibri" pitchFamily="34" charset="-120"/>
              </a:rPr>
              <a:t> para </a:t>
            </a:r>
            <a:r>
              <a:rPr lang="en-US" sz="1800" b="1" i="1" dirty="0">
                <a:solidFill>
                  <a:srgbClr val="1A1A1A"/>
                </a:solidFill>
                <a:latin typeface="Calibri" pitchFamily="34" charset="0"/>
                <a:ea typeface="Calibri" pitchFamily="34" charset="-122"/>
                <a:cs typeface="Calibri" pitchFamily="34" charset="-120"/>
              </a:rPr>
              <a:t>que o paciente seja atendido pela equipe de enfermeiros e médicos</a:t>
            </a:r>
            <a:r>
              <a:rPr lang="en-US" sz="1800" b="1" dirty="0">
                <a:solidFill>
                  <a:srgbClr val="1A1A1A"/>
                </a:solidFill>
                <a:latin typeface="Calibri" pitchFamily="34" charset="0"/>
                <a:ea typeface="Calibri" pitchFamily="34" charset="-122"/>
                <a:cs typeface="Calibri" pitchFamily="34" charset="-120"/>
              </a:rPr>
              <a:t>.</a:t>
            </a:r>
            <a:endParaRPr lang="en-US" sz="1800" dirty="0"/>
          </a:p>
        </p:txBody>
      </p:sp>
      <p:sp>
        <p:nvSpPr>
          <p:cNvPr id="4" name="Shape 2"/>
          <p:cNvSpPr/>
          <p:nvPr/>
        </p:nvSpPr>
        <p:spPr>
          <a:xfrm>
            <a:off x="7671816" y="2624328"/>
            <a:ext cx="3694176" cy="3017520"/>
          </a:xfrm>
          <a:prstGeom prst="roundRect">
            <a:avLst>
              <a:gd name="adj" fmla="val 1818"/>
            </a:avLst>
          </a:prstGeom>
          <a:solidFill>
            <a:srgbClr val="F2F2F2"/>
          </a:solidFill>
          <a:ln w="12700">
            <a:solidFill>
              <a:srgbClr val="8C8C8C"/>
            </a:solidFill>
            <a:prstDash val="solid"/>
          </a:ln>
        </p:spPr>
        <p:txBody>
          <a:bodyPr/>
          <a:lstStyle/>
          <a:p>
            <a:endParaRPr lang="en-US"/>
          </a:p>
        </p:txBody>
      </p:sp>
      <p:sp>
        <p:nvSpPr>
          <p:cNvPr id="5" name="Text 3"/>
          <p:cNvSpPr/>
          <p:nvPr/>
        </p:nvSpPr>
        <p:spPr>
          <a:xfrm>
            <a:off x="7808976" y="2761488"/>
            <a:ext cx="3419856" cy="2743200"/>
          </a:xfrm>
          <a:prstGeom prst="rect">
            <a:avLst/>
          </a:prstGeom>
          <a:noFill/>
          <a:ln/>
        </p:spPr>
        <p:txBody>
          <a:bodyPr wrap="square" lIns="0" tIns="0" rIns="0" bIns="0" rtlCol="0" anchor="ctr"/>
          <a:lstStyle/>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Como [Quem?],</a:t>
            </a:r>
            <a:endParaRPr lang="en-US" sz="1500" dirty="0"/>
          </a:p>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eu quero [O quê?]</a:t>
            </a:r>
            <a:endParaRPr lang="en-US" sz="1500" dirty="0"/>
          </a:p>
          <a:p>
            <a:pPr marL="0" indent="0" algn="ctr">
              <a:lnSpc>
                <a:spcPts val="2250"/>
              </a:lnSpc>
              <a:buNone/>
            </a:pPr>
            <a:r>
              <a:rPr lang="en-US" sz="1500" dirty="0">
                <a:solidFill>
                  <a:srgbClr val="1A1A1A"/>
                </a:solidFill>
                <a:latin typeface="Courier New" pitchFamily="34" charset="0"/>
                <a:ea typeface="Courier New" pitchFamily="34" charset="-122"/>
                <a:cs typeface="Courier New" pitchFamily="34" charset="-120"/>
              </a:rPr>
              <a:t>para [Por quê?]</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a:t>
            </a:r>
            <a:endParaRPr lang="en-US" sz="2800" dirty="0"/>
          </a:p>
        </p:txBody>
      </p:sp>
      <p:sp>
        <p:nvSpPr>
          <p:cNvPr id="3" name="Text 1"/>
          <p:cNvSpPr/>
          <p:nvPr/>
        </p:nvSpPr>
        <p:spPr>
          <a:xfrm>
            <a:off x="566928" y="1371600"/>
            <a:ext cx="11057839" cy="4846320"/>
          </a:xfrm>
          <a:prstGeom prst="rect">
            <a:avLst/>
          </a:prstGeom>
          <a:noFill/>
          <a:ln/>
        </p:spPr>
        <p:txBody>
          <a:bodyPr wrap="square" lIns="0" tIns="0" rIns="0" bIns="0" rtlCol="0" anchor="t"/>
          <a:lstStyle/>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Utilizados para identificar detalhes a uma descrição geral de requisitos. Trata-se de esboço da interação.</a:t>
            </a:r>
            <a:endParaRPr lang="en-US" sz="1700" dirty="0"/>
          </a:p>
          <a:p>
            <a:pPr marL="0" indent="0" algn="just">
              <a:lnSpc>
                <a:spcPts val="3000"/>
              </a:lnSpc>
              <a:buNone/>
            </a:pPr>
            <a:r>
              <a:rPr lang="en-US" sz="1700" b="1" dirty="0">
                <a:solidFill>
                  <a:srgbClr val="1A1A1A"/>
                </a:solidFill>
                <a:latin typeface="Calibri" pitchFamily="34" charset="0"/>
                <a:ea typeface="Calibri" pitchFamily="34" charset="-122"/>
                <a:cs typeface="Calibri" pitchFamily="34" charset="-120"/>
              </a:rPr>
              <a:t>Em sua forma mais geral, um cenário pode incluir:</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2. Descrição do fluxo normal de eventos no cenário.</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700" dirty="0"/>
          </a:p>
          <a:p>
            <a:pPr marL="0" indent="0" algn="just">
              <a:lnSpc>
                <a:spcPts val="3000"/>
              </a:lnSpc>
              <a:buNone/>
            </a:pPr>
            <a:r>
              <a:rPr lang="en-US" sz="1700" dirty="0">
                <a:solidFill>
                  <a:srgbClr val="595959"/>
                </a:solidFill>
                <a:latin typeface="Calibri" pitchFamily="34" charset="0"/>
                <a:ea typeface="Calibri" pitchFamily="34" charset="-122"/>
                <a:cs typeface="Calibri" pitchFamily="34" charset="-120"/>
              </a:rPr>
              <a:t>Podem ser descritos como texto, diagramas, telas, casos de uso etc.</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2194560"/>
            <a:ext cx="10424160" cy="2377440"/>
          </a:xfrm>
          <a:prstGeom prst="rect">
            <a:avLst/>
          </a:prstGeom>
          <a:noFill/>
          <a:ln/>
        </p:spPr>
        <p:txBody>
          <a:bodyPr wrap="square" rtlCol="0" anchor="ctr"/>
          <a:lstStyle/>
          <a:p>
            <a:pPr marL="0" indent="0" algn="l">
              <a:lnSpc>
                <a:spcPts val="4200"/>
              </a:lnSpc>
              <a:buNone/>
            </a:pPr>
            <a:r>
              <a:rPr lang="en-US" sz="2800" b="1" dirty="0">
                <a:solidFill>
                  <a:srgbClr val="1A1A1A"/>
                </a:solidFill>
                <a:latin typeface="Calibri" pitchFamily="34" charset="0"/>
                <a:ea typeface="Calibri" pitchFamily="34" charset="-122"/>
                <a:cs typeface="Calibri" pitchFamily="34" charset="-120"/>
              </a:rPr>
              <a:t>Como poderíamos descrever um cenário para a situação a seguir, pertencente ao sistema de informação de saúde mental?</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54480"/>
            <a:ext cx="10424160" cy="3108960"/>
          </a:xfrm>
          <a:prstGeom prst="rect">
            <a:avLst/>
          </a:prstGeom>
          <a:noFill/>
          <a:ln/>
        </p:spPr>
        <p:txBody>
          <a:bodyPr wrap="square" lIns="0" tIns="0" rIns="0" bIns="0" rtlCol="0" anchor="t"/>
          <a:lstStyle/>
          <a:p>
            <a:pPr marL="0" indent="0" algn="just">
              <a:lnSpc>
                <a:spcPts val="3200"/>
              </a:lnSpc>
              <a:buNone/>
            </a:pPr>
            <a:r>
              <a:rPr lang="en-US" sz="2000" dirty="0">
                <a:solidFill>
                  <a:srgbClr val="595959"/>
                </a:solidFill>
                <a:latin typeface="Calibri" pitchFamily="34" charset="0"/>
                <a:ea typeface="Calibri" pitchFamily="34" charset="-122"/>
                <a:cs typeface="Calibri" pitchFamily="34" charset="-120"/>
              </a:rPr>
              <a:t>“Quando um novo paciente vai a uma clínica, um novo registro é criado por uma recepcionista, e suas informações pessoais (nome, idade etc.) são acrescentadas nessa ficha. Em seguida, uma enfermeira entrevista o paciente e coleta seu histórico médico. Então, o paciente faz uma consulta inicial com o médico, que faz um diagnóstico e, se for o caso, recomenda um tratamento.”</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b="1" dirty="0">
                <a:solidFill>
                  <a:srgbClr val="1A1A1A"/>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463040"/>
            <a:ext cx="11057839" cy="822960"/>
          </a:xfrm>
          <a:prstGeom prst="rect">
            <a:avLst/>
          </a:prstGeom>
          <a:noFill/>
          <a:ln/>
        </p:spPr>
        <p:txBody>
          <a:bodyPr wrap="square" lIns="0" tIns="0" rIns="0" bIns="0" rtlCol="0" anchor="t"/>
          <a:lstStyle/>
          <a:p>
            <a:pPr marL="0" indent="0" algn="l">
              <a:lnSpc>
                <a:spcPts val="2800"/>
              </a:lnSpc>
              <a:buNone/>
            </a:pPr>
            <a:r>
              <a:rPr lang="en-US" sz="1900" b="1" dirty="0">
                <a:solidFill>
                  <a:srgbClr val="1A1A1A"/>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p:txBody>
      </p:sp>
      <p:sp>
        <p:nvSpPr>
          <p:cNvPr id="4" name="Text 2"/>
          <p:cNvSpPr/>
          <p:nvPr/>
        </p:nvSpPr>
        <p:spPr>
          <a:xfrm>
            <a:off x="566928" y="2377440"/>
            <a:ext cx="11057839" cy="39319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O paciente é atendido em uma clínica médica por uma recepcionista; ela gera um registro no sistema e coleta suas informações pessoais (nome, endereço, idade etc.). Uma enfermeira é conectada ao sistema e coleta o histórico médico do paciente.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b="1" dirty="0">
                <a:solidFill>
                  <a:srgbClr val="1A1A1A"/>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463040"/>
            <a:ext cx="11057839" cy="822960"/>
          </a:xfrm>
          <a:prstGeom prst="rect">
            <a:avLst/>
          </a:prstGeom>
          <a:noFill/>
          <a:ln/>
        </p:spPr>
        <p:txBody>
          <a:bodyPr wrap="square" lIns="0" tIns="0" rIns="0" bIns="0" rtlCol="0" anchor="t"/>
          <a:lstStyle/>
          <a:p>
            <a:pPr marL="0" indent="0" algn="l">
              <a:lnSpc>
                <a:spcPts val="2800"/>
              </a:lnSpc>
              <a:buNone/>
            </a:pPr>
            <a:r>
              <a:rPr lang="en-US" sz="1900" b="1" dirty="0">
                <a:solidFill>
                  <a:srgbClr val="1A1A1A"/>
                </a:solidFill>
                <a:latin typeface="Calibri" pitchFamily="34" charset="0"/>
                <a:ea typeface="Calibri" pitchFamily="34" charset="-122"/>
                <a:cs typeface="Calibri" pitchFamily="34" charset="-120"/>
              </a:rPr>
              <a:t>2. Descrição do fluxo normal de eventos no cenário.</a:t>
            </a:r>
            <a:endParaRPr lang="en-US" sz="1900" dirty="0"/>
          </a:p>
        </p:txBody>
      </p:sp>
      <p:sp>
        <p:nvSpPr>
          <p:cNvPr id="4" name="Text 2"/>
          <p:cNvSpPr/>
          <p:nvPr/>
        </p:nvSpPr>
        <p:spPr>
          <a:xfrm>
            <a:off x="566928" y="2377440"/>
            <a:ext cx="11057839" cy="39319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A enfermeira busca o paciente pelo sobrenome. Se houver mais de um paciente com o mesmo sobrenome, o nome e a data de nascimento são usados para identificar o paciente.</a:t>
            </a: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A enfermeira escolhe a opção do menu para adicionar o histórico médico.</a:t>
            </a: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A enfermeira segue, então, uma série de prompts do sistema para inserir informações sobre consultas em outros locais, os problemas de saúde mental (entrada de texto livre), condições médicas (enfermeira seleciona condições do menu), medicação atual (selecionado no menu), alergias (texto livre) e informações da vida doméstica (formulário).</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b="1" dirty="0">
                <a:solidFill>
                  <a:srgbClr val="1A1A1A"/>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463040"/>
            <a:ext cx="11057839" cy="822960"/>
          </a:xfrm>
          <a:prstGeom prst="rect">
            <a:avLst/>
          </a:prstGeom>
          <a:noFill/>
          <a:ln/>
        </p:spPr>
        <p:txBody>
          <a:bodyPr wrap="square" lIns="0" tIns="0" rIns="0" bIns="0" rtlCol="0" anchor="t"/>
          <a:lstStyle/>
          <a:p>
            <a:pPr marL="0" indent="0" algn="l">
              <a:lnSpc>
                <a:spcPts val="2800"/>
              </a:lnSpc>
              <a:buNone/>
            </a:pPr>
            <a:r>
              <a:rPr lang="en-US" sz="1900" b="1" dirty="0">
                <a:solidFill>
                  <a:srgbClr val="1A1A1A"/>
                </a:solidFill>
                <a:latin typeface="Calibri" pitchFamily="34" charset="0"/>
                <a:ea typeface="Calibri" pitchFamily="34" charset="-122"/>
                <a:cs typeface="Calibri" pitchFamily="34" charset="-120"/>
              </a:rPr>
              <a:t>3. Descrição do que pode dar errado e como isso é tratado.</a:t>
            </a:r>
            <a:endParaRPr lang="en-US" sz="1900" dirty="0"/>
          </a:p>
        </p:txBody>
      </p:sp>
      <p:sp>
        <p:nvSpPr>
          <p:cNvPr id="4" name="Text 2"/>
          <p:cNvSpPr/>
          <p:nvPr/>
        </p:nvSpPr>
        <p:spPr>
          <a:xfrm>
            <a:off x="566928" y="2377440"/>
            <a:ext cx="11057839" cy="3931920"/>
          </a:xfrm>
          <a:prstGeom prst="rect">
            <a:avLst/>
          </a:prstGeom>
          <a:noFill/>
          <a:ln/>
        </p:spPr>
        <p:txBody>
          <a:bodyPr wrap="square" lIns="0" tIns="0" rIns="0" bIns="0" rtlCol="0" anchor="t"/>
          <a:lstStyle/>
          <a:p>
            <a:pPr marL="0" indent="0" algn="just">
              <a:lnSpc>
                <a:spcPts val="2600"/>
              </a:lnSpc>
              <a:buNone/>
            </a:pPr>
            <a:r>
              <a:rPr lang="en-US" sz="1600" dirty="0">
                <a:solidFill>
                  <a:srgbClr val="595959"/>
                </a:solidFill>
                <a:latin typeface="Calibri" pitchFamily="34" charset="0"/>
                <a:ea typeface="Calibri" pitchFamily="34" charset="-122"/>
                <a:cs typeface="Calibri" pitchFamily="34" charset="-120"/>
              </a:rPr>
              <a:t>O prontuário do paciente não existe ou não pôde ser encontrado. A enfermeira deve criar um novo registro e registrar as informações pessoais. As condições do paciente ou a medicação em uso não estão inscritas no menu. A enfermeira deve escolher a opção ‘outros’ e inserir texto livre com descrição da condição/medicação. O paciente não pode/não fornecerá informações sobre seu histórico médico. A enfermeira deve inserir um texto livre registrando a incapacidade/relutância do paciente em fornecer as informações. O sistema deve imprimir o formulário-padrão que afirma que a falta de informação pode significar que o tratamento será limitado ou postergado. Este deverá ser assinado e entregue ao paciente.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b="1" dirty="0">
                <a:solidFill>
                  <a:srgbClr val="1A1A1A"/>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463040"/>
            <a:ext cx="11057839" cy="822960"/>
          </a:xfrm>
          <a:prstGeom prst="rect">
            <a:avLst/>
          </a:prstGeom>
          <a:noFill/>
          <a:ln/>
        </p:spPr>
        <p:txBody>
          <a:bodyPr wrap="square" lIns="0" tIns="0" rIns="0" bIns="0" rtlCol="0" anchor="t"/>
          <a:lstStyle/>
          <a:p>
            <a:pPr marL="0" indent="0" algn="l">
              <a:lnSpc>
                <a:spcPts val="2800"/>
              </a:lnSpc>
              <a:buNone/>
            </a:pPr>
            <a:r>
              <a:rPr lang="en-US" sz="1900" b="1" dirty="0">
                <a:solidFill>
                  <a:srgbClr val="1A1A1A"/>
                </a:solidFill>
                <a:latin typeface="Calibri" pitchFamily="34" charset="0"/>
                <a:ea typeface="Calibri" pitchFamily="34" charset="-122"/>
                <a:cs typeface="Calibri" pitchFamily="34" charset="-120"/>
              </a:rPr>
              <a:t>4. Informações sobre outras atividades que podem acontecer ao mesmo tempo.</a:t>
            </a:r>
            <a:endParaRPr lang="en-US" sz="1900" dirty="0"/>
          </a:p>
        </p:txBody>
      </p:sp>
      <p:sp>
        <p:nvSpPr>
          <p:cNvPr id="4" name="Text 2"/>
          <p:cNvSpPr/>
          <p:nvPr/>
        </p:nvSpPr>
        <p:spPr>
          <a:xfrm>
            <a:off x="566928" y="2377440"/>
            <a:ext cx="11057839" cy="39319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Enquanto a informação está sendo inserida, o registro pode ser consultado, mas não editado por outros agentes.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508760"/>
            <a:ext cx="11057839" cy="4846320"/>
          </a:xfrm>
          <a:prstGeom prst="rect">
            <a:avLst/>
          </a:prstGeom>
          <a:noFill/>
          <a:ln/>
        </p:spPr>
        <p:txBody>
          <a:bodyPr wrap="square" lIns="0" tIns="0" rIns="0" bIns="0" rtlCol="0" anchor="t"/>
          <a:lstStyle/>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1. Descrição do que o sistema e os usuários esperam quando o cenário se iniciar.</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2. Descrição do fluxo normal de eventos no cenário.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3. Descrição do que pode dar errado e como isso é tratado.</a:t>
            </a:r>
            <a:endParaRPr lang="en-US" sz="1900" dirty="0"/>
          </a:p>
          <a:p>
            <a:pPr marL="0" indent="0" algn="l">
              <a:lnSpc>
                <a:spcPts val="3000"/>
              </a:lnSpc>
              <a:buNone/>
            </a:pPr>
            <a:r>
              <a:rPr lang="en-US" sz="1900" dirty="0">
                <a:solidFill>
                  <a:srgbClr val="595959"/>
                </a:solidFill>
                <a:latin typeface="Calibri" pitchFamily="34" charset="0"/>
                <a:ea typeface="Calibri" pitchFamily="34" charset="-122"/>
                <a:cs typeface="Calibri" pitchFamily="34" charset="-120"/>
              </a:rPr>
              <a:t>4. Informações sobre outras atividades que podem acontecer ao mesmo tempo.</a:t>
            </a:r>
            <a:endParaRPr lang="en-US" sz="1900" dirty="0"/>
          </a:p>
          <a:p>
            <a:pPr marL="0" indent="0" algn="l">
              <a:lnSpc>
                <a:spcPts val="3000"/>
              </a:lnSpc>
              <a:buNone/>
            </a:pPr>
            <a:r>
              <a:rPr lang="en-US" sz="1900" b="1" dirty="0">
                <a:solidFill>
                  <a:srgbClr val="1A1A1A"/>
                </a:solidFill>
                <a:latin typeface="Calibri" pitchFamily="34" charset="0"/>
                <a:ea typeface="Calibri" pitchFamily="34" charset="-122"/>
                <a:cs typeface="Calibri" pitchFamily="34" charset="-120"/>
              </a:rPr>
              <a:t>5. Descrição do estado do sistema quando o cenário acaba.</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Cenários – exemplo</a:t>
            </a:r>
            <a:endParaRPr lang="en-US" sz="2800" dirty="0"/>
          </a:p>
        </p:txBody>
      </p:sp>
      <p:sp>
        <p:nvSpPr>
          <p:cNvPr id="3" name="Text 1"/>
          <p:cNvSpPr/>
          <p:nvPr/>
        </p:nvSpPr>
        <p:spPr>
          <a:xfrm>
            <a:off x="566928" y="1463040"/>
            <a:ext cx="11057839" cy="822960"/>
          </a:xfrm>
          <a:prstGeom prst="rect">
            <a:avLst/>
          </a:prstGeom>
          <a:noFill/>
          <a:ln/>
        </p:spPr>
        <p:txBody>
          <a:bodyPr wrap="square" lIns="0" tIns="0" rIns="0" bIns="0" rtlCol="0" anchor="t"/>
          <a:lstStyle/>
          <a:p>
            <a:pPr marL="0" indent="0" algn="l">
              <a:lnSpc>
                <a:spcPts val="2800"/>
              </a:lnSpc>
              <a:buNone/>
            </a:pPr>
            <a:r>
              <a:rPr lang="en-US" sz="1900" b="1" dirty="0">
                <a:solidFill>
                  <a:srgbClr val="1A1A1A"/>
                </a:solidFill>
                <a:latin typeface="Calibri" pitchFamily="34" charset="0"/>
                <a:ea typeface="Calibri" pitchFamily="34" charset="-122"/>
                <a:cs typeface="Calibri" pitchFamily="34" charset="-120"/>
              </a:rPr>
              <a:t>5. Descrição do estado do sistema quando o cenário acaba.</a:t>
            </a:r>
            <a:endParaRPr lang="en-US" sz="1900" dirty="0"/>
          </a:p>
        </p:txBody>
      </p:sp>
      <p:sp>
        <p:nvSpPr>
          <p:cNvPr id="4" name="Text 2"/>
          <p:cNvSpPr/>
          <p:nvPr/>
        </p:nvSpPr>
        <p:spPr>
          <a:xfrm>
            <a:off x="566928" y="2377440"/>
            <a:ext cx="11057839" cy="393192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O usuário está conectado. O prontuário do paciente, incluindo seu histórico médico, é inserido no banco de dados e um registro é adicionado ao log do sistema, mostrando o tempo de início e fim da sessão e a enfermeira envolvida.</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320040"/>
            <a:ext cx="11057839" cy="548640"/>
          </a:xfrm>
          <a:prstGeom prst="rect">
            <a:avLst/>
          </a:prstGeom>
          <a:noFill/>
          <a:ln/>
        </p:spPr>
        <p:txBody>
          <a:bodyPr wrap="square" lIns="0" tIns="0" rIns="0" bIns="0" rtlCol="0" anchor="ctr"/>
          <a:lstStyle/>
          <a:p>
            <a:pPr marL="0" indent="0" algn="l">
              <a:buNone/>
            </a:pPr>
            <a:r>
              <a:rPr lang="en-US" sz="2400" b="1" dirty="0">
                <a:solidFill>
                  <a:srgbClr val="1A1A1A"/>
                </a:solidFill>
                <a:latin typeface="Calibri" pitchFamily="34" charset="0"/>
                <a:ea typeface="Calibri" pitchFamily="34" charset="-122"/>
                <a:cs typeface="Calibri" pitchFamily="34" charset="-120"/>
              </a:rPr>
              <a:t>Cenários – exemplo</a:t>
            </a:r>
            <a:endParaRPr lang="en-US" sz="2400" dirty="0"/>
          </a:p>
        </p:txBody>
      </p:sp>
      <p:sp>
        <p:nvSpPr>
          <p:cNvPr id="3" name="Text 1"/>
          <p:cNvSpPr/>
          <p:nvPr/>
        </p:nvSpPr>
        <p:spPr>
          <a:xfrm>
            <a:off x="566928" y="960120"/>
            <a:ext cx="11057839" cy="5669280"/>
          </a:xfrm>
          <a:prstGeom prst="rect">
            <a:avLst/>
          </a:prstGeom>
          <a:noFill/>
          <a:ln/>
        </p:spPr>
        <p:txBody>
          <a:bodyPr wrap="square" lIns="0" tIns="0" rIns="0" bIns="0" rtlCol="0" anchor="t"/>
          <a:lstStyle/>
          <a:p>
            <a:pPr marL="0" indent="0" algn="just">
              <a:lnSpc>
                <a:spcPts val="1500"/>
              </a:lnSpc>
              <a:buNone/>
            </a:pPr>
            <a:r>
              <a:rPr lang="en-US" sz="1050" b="1" dirty="0">
                <a:solidFill>
                  <a:srgbClr val="1A1A1A"/>
                </a:solidFill>
                <a:latin typeface="Calibri" pitchFamily="34" charset="0"/>
                <a:ea typeface="Calibri" pitchFamily="34" charset="-122"/>
                <a:cs typeface="Calibri" pitchFamily="34" charset="-120"/>
              </a:rPr>
              <a:t>1. Descrição do que o sistema e os usuários esperam quando o cenário se iniciar.</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O paciente é atendido em uma clínica médica por uma recepcionista; ela gera um registro no sistema e coleta suas informações pessoais (nome, endereço, idade etc.). Uma enfermeira é conectada ao sistema e coleta o histórico médico do paciente.</a:t>
            </a:r>
            <a:endParaRPr lang="en-US" sz="1050" dirty="0"/>
          </a:p>
          <a:p>
            <a:pPr marL="0" indent="0" algn="just">
              <a:lnSpc>
                <a:spcPts val="1500"/>
              </a:lnSpc>
              <a:buNone/>
            </a:pPr>
            <a:r>
              <a:rPr lang="en-US" sz="1050" b="1" dirty="0">
                <a:solidFill>
                  <a:srgbClr val="1A1A1A"/>
                </a:solidFill>
                <a:latin typeface="Calibri" pitchFamily="34" charset="0"/>
                <a:ea typeface="Calibri" pitchFamily="34" charset="-122"/>
                <a:cs typeface="Calibri" pitchFamily="34" charset="-120"/>
              </a:rPr>
              <a:t>2. Descrição do fluxo normal de eventos no cenário.</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A enfermeira busca o paciente pelo sobrenome. Se houver mais de um paciente com o mesmo sobrenome, o nome e a data de nascimento são usados para identificar o paciente.</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A enfermeira escolhe a opção do menu para adicionar o histórico médico.</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A enfermeira segue, então, uma série de prompts do sistema para inserir informações sobre consultas em outros locais, os problemas de saúde mental (entrada de texto livre), condições médicas (enfermeira seleciona condições do menu), medicação atual (selecionado no menu), alergias (texto livre) e informações da vida doméstica (formulário).</a:t>
            </a:r>
            <a:endParaRPr lang="en-US" sz="1050" dirty="0"/>
          </a:p>
          <a:p>
            <a:pPr marL="0" indent="0" algn="just">
              <a:lnSpc>
                <a:spcPts val="1500"/>
              </a:lnSpc>
              <a:buNone/>
            </a:pPr>
            <a:r>
              <a:rPr lang="en-US" sz="1050" b="1" dirty="0">
                <a:solidFill>
                  <a:srgbClr val="1A1A1A"/>
                </a:solidFill>
                <a:latin typeface="Calibri" pitchFamily="34" charset="0"/>
                <a:ea typeface="Calibri" pitchFamily="34" charset="-122"/>
                <a:cs typeface="Calibri" pitchFamily="34" charset="-120"/>
              </a:rPr>
              <a:t>3. Descrição do que pode dar errado e como isso é tratado.</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O prontuário do paciente não existe ou não pôde ser encontrado. A enfermeira deve criar um novo registro e registrar as informações pessoais. As condições do paciente ou a medicação em uso não estão inscritas no menu. A enfermeira deve escolher a opção ‘outros’ e inserir texto livre com descrição da condição/medicação. O paciente não pode/não fornecerá informações sobre seu histórico médico. A enfermeira deve inserir um texto livre registrando a incapacidade/relutância do paciente em fornecer as informações. O sistema deve imprimir o formulário-padrão que afirma que a falta de informação pode significar que o tratamento será limitado ou postergado. Este deverá ser assinado e entregue ao paciente.</a:t>
            </a:r>
            <a:endParaRPr lang="en-US" sz="1050" dirty="0"/>
          </a:p>
          <a:p>
            <a:pPr marL="0" indent="0" algn="just">
              <a:lnSpc>
                <a:spcPts val="1500"/>
              </a:lnSpc>
              <a:buNone/>
            </a:pPr>
            <a:r>
              <a:rPr lang="en-US" sz="1050" b="1" dirty="0">
                <a:solidFill>
                  <a:srgbClr val="1A1A1A"/>
                </a:solidFill>
                <a:latin typeface="Calibri" pitchFamily="34" charset="0"/>
                <a:ea typeface="Calibri" pitchFamily="34" charset="-122"/>
                <a:cs typeface="Calibri" pitchFamily="34" charset="-120"/>
              </a:rPr>
              <a:t>4. Informações sobre outras atividades que podem acontecer ao mesmo tempo.</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Enquanto a informação está sendo inserida, o registro pode ser consultado, mas não editado por outros agentes.</a:t>
            </a:r>
            <a:endParaRPr lang="en-US" sz="1050" dirty="0"/>
          </a:p>
          <a:p>
            <a:pPr marL="0" indent="0" algn="just">
              <a:lnSpc>
                <a:spcPts val="1500"/>
              </a:lnSpc>
              <a:buNone/>
            </a:pPr>
            <a:r>
              <a:rPr lang="en-US" sz="1050" b="1" dirty="0">
                <a:solidFill>
                  <a:srgbClr val="1A1A1A"/>
                </a:solidFill>
                <a:latin typeface="Calibri" pitchFamily="34" charset="0"/>
                <a:ea typeface="Calibri" pitchFamily="34" charset="-122"/>
                <a:cs typeface="Calibri" pitchFamily="34" charset="-120"/>
              </a:rPr>
              <a:t>5. Descrição do estado do sistema quando o cenário acaba.</a:t>
            </a:r>
            <a:endParaRPr lang="en-US" sz="1050" dirty="0"/>
          </a:p>
          <a:p>
            <a:pPr marL="0" indent="0" algn="just">
              <a:lnSpc>
                <a:spcPts val="1500"/>
              </a:lnSpc>
              <a:buNone/>
            </a:pPr>
            <a:r>
              <a:rPr lang="en-US" sz="1050" dirty="0">
                <a:solidFill>
                  <a:srgbClr val="595959"/>
                </a:solidFill>
                <a:latin typeface="Calibri" pitchFamily="34" charset="0"/>
                <a:ea typeface="Calibri" pitchFamily="34" charset="-122"/>
                <a:cs typeface="Calibri" pitchFamily="34" charset="-120"/>
              </a:rPr>
              <a:t>O usuário está conectado. O prontuário do paciente, incluindo seu histórico médico, é inserido no banco de dados e um registro é adicionado ao log do sistema, mostrando o tempo de início e fim da sessão e a enfermeira envolvida.</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Elicitação</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D9D9D9"/>
          </a:solidFill>
          <a:ln w="25400">
            <a:solidFill>
              <a:srgbClr val="1A1A1A"/>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Casos de uso</a:t>
            </a:r>
            <a:endParaRPr lang="en-US" sz="2800" dirty="0"/>
          </a:p>
        </p:txBody>
      </p:sp>
      <p:sp>
        <p:nvSpPr>
          <p:cNvPr id="3" name="Text 1"/>
          <p:cNvSpPr/>
          <p:nvPr/>
        </p:nvSpPr>
        <p:spPr>
          <a:xfrm>
            <a:off x="566928" y="1554480"/>
            <a:ext cx="7863840" cy="3291840"/>
          </a:xfrm>
          <a:prstGeom prst="rect">
            <a:avLst/>
          </a:prstGeom>
          <a:noFill/>
          <a:ln/>
        </p:spPr>
        <p:txBody>
          <a:bodyPr wrap="square" lIns="0" tIns="0" rIns="0" bIns="0" rtlCol="0" anchor="t"/>
          <a:lstStyle/>
          <a:p>
            <a:pPr marL="0" indent="0" algn="just">
              <a:lnSpc>
                <a:spcPts val="3200"/>
              </a:lnSpc>
              <a:buNone/>
            </a:pPr>
            <a:r>
              <a:rPr lang="en-US" sz="2000" dirty="0">
                <a:solidFill>
                  <a:srgbClr val="595959"/>
                </a:solidFill>
                <a:latin typeface="Calibri" pitchFamily="34" charset="0"/>
                <a:ea typeface="Calibri" pitchFamily="34" charset="-122"/>
                <a:cs typeface="Calibri" pitchFamily="34" charset="-120"/>
              </a:rPr>
              <a:t>Um caso de uso identifica os atores envolvidos em uma interação e dá nome ao tipo de interação. Essa interação é complementada por informações adicionais que descrevem a interação com o sistema. A informação adicional pode ser uma descrição textual ou um ou mais modelos gráficos, como diagrama de sequência ou de estados da UML.</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600" b="1" dirty="0">
                <a:solidFill>
                  <a:srgbClr val="1A1A1A"/>
                </a:solidFill>
                <a:latin typeface="Calibri" pitchFamily="34" charset="0"/>
                <a:ea typeface="Calibri" pitchFamily="34" charset="-122"/>
                <a:cs typeface="Calibri" pitchFamily="34" charset="-120"/>
              </a:rPr>
              <a:t>Casos de uso – exemplo sistema saúde mental</a:t>
            </a:r>
            <a:endParaRPr lang="en-US" sz="2600" dirty="0"/>
          </a:p>
        </p:txBody>
      </p:sp>
      <p:pic>
        <p:nvPicPr>
          <p:cNvPr id="3" name="Image 0" descr="preencoded.png"/>
          <p:cNvPicPr>
            <a:picLocks noChangeAspect="1"/>
          </p:cNvPicPr>
          <p:nvPr/>
        </p:nvPicPr>
        <p:blipFill>
          <a:blip r:embed="rId3"/>
          <a:stretch>
            <a:fillRect/>
          </a:stretch>
        </p:blipFill>
        <p:spPr>
          <a:xfrm>
            <a:off x="804672" y="1591056"/>
            <a:ext cx="9948672" cy="464515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Etnografia</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D9D9D9"/>
          </a:solidFill>
          <a:ln w="25400">
            <a:solidFill>
              <a:srgbClr val="1A1A1A"/>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Etnografia</a:t>
            </a:r>
            <a:endParaRPr lang="en-US" sz="2800" dirty="0"/>
          </a:p>
        </p:txBody>
      </p:sp>
      <p:sp>
        <p:nvSpPr>
          <p:cNvPr id="3" name="Text 1"/>
          <p:cNvSpPr/>
          <p:nvPr/>
        </p:nvSpPr>
        <p:spPr>
          <a:xfrm>
            <a:off x="566928" y="1371600"/>
            <a:ext cx="6766560" cy="219456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Etnografia é uma técnica de observação. Um analista faz uma imersão no ambiente de trabalho em que o sistema será usado. O trabalho do dia a dia é observado e são feitas anotações sobre as tarefas reais em que os participantes estão envolvidos.</a:t>
            </a:r>
            <a:endParaRPr lang="en-US" sz="1800" dirty="0"/>
          </a:p>
        </p:txBody>
      </p:sp>
      <p:sp>
        <p:nvSpPr>
          <p:cNvPr id="4" name="Text 2"/>
          <p:cNvSpPr/>
          <p:nvPr/>
        </p:nvSpPr>
        <p:spPr>
          <a:xfrm>
            <a:off x="566928" y="3749040"/>
            <a:ext cx="6766560" cy="2011680"/>
          </a:xfrm>
          <a:prstGeom prst="rect">
            <a:avLst/>
          </a:prstGeom>
          <a:noFill/>
          <a:ln/>
        </p:spPr>
        <p:txBody>
          <a:bodyPr wrap="square" lIns="0" tIns="0" rIns="0" bIns="0" rtlCol="0" anchor="t"/>
          <a:lstStyle/>
          <a:p>
            <a:pPr marL="0" indent="0" algn="l">
              <a:lnSpc>
                <a:spcPts val="2800"/>
              </a:lnSpc>
              <a:buNone/>
            </a:pPr>
            <a:r>
              <a:rPr lang="en-US" sz="1800" dirty="0">
                <a:solidFill>
                  <a:srgbClr val="595959"/>
                </a:solidFill>
                <a:latin typeface="Calibri" pitchFamily="34" charset="0"/>
                <a:ea typeface="Calibri" pitchFamily="34" charset="-122"/>
                <a:cs typeface="Calibri" pitchFamily="34" charset="-120"/>
              </a:rPr>
              <a:t>Usada para compreender os processos operacionais e ajudar a extrair os requisitos de apoio para esses processos.</a:t>
            </a:r>
            <a:endParaRPr lang="en-US" sz="1800" dirty="0"/>
          </a:p>
        </p:txBody>
      </p:sp>
      <p:pic>
        <p:nvPicPr>
          <p:cNvPr id="5" name="Image 0" descr="preencoded.png"/>
          <p:cNvPicPr>
            <a:picLocks noChangeAspect="1"/>
          </p:cNvPicPr>
          <p:nvPr/>
        </p:nvPicPr>
        <p:blipFill>
          <a:blip r:embed="rId3"/>
          <a:stretch>
            <a:fillRect/>
          </a:stretch>
        </p:blipFill>
        <p:spPr>
          <a:xfrm>
            <a:off x="7525512" y="4178808"/>
            <a:ext cx="4517136" cy="247802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Etnografia</a:t>
            </a:r>
            <a:endParaRPr lang="en-US" sz="2800" dirty="0"/>
          </a:p>
        </p:txBody>
      </p:sp>
      <p:sp>
        <p:nvSpPr>
          <p:cNvPr id="3" name="Text 1"/>
          <p:cNvSpPr/>
          <p:nvPr/>
        </p:nvSpPr>
        <p:spPr>
          <a:xfrm>
            <a:off x="566928" y="1463040"/>
            <a:ext cx="10607040" cy="420624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O valor da etnografia é que ela ajuda a descobrir requisitos implícitos do sistema que refletem as formas reais com que as pessoas trabalham, em vez de refletir processos formais definidos pela organização.</a:t>
            </a:r>
            <a:endParaRPr lang="en-US" sz="1800" dirty="0"/>
          </a:p>
          <a:p>
            <a:pPr marL="0" indent="0" algn="just">
              <a:lnSpc>
                <a:spcPts val="2800"/>
              </a:lnSpc>
              <a:buNone/>
            </a:pPr>
            <a:endParaRPr lang="en-US" sz="1800" dirty="0"/>
          </a:p>
          <a:p>
            <a:pPr marL="0" indent="0" algn="just">
              <a:lnSpc>
                <a:spcPts val="2800"/>
              </a:lnSpc>
              <a:buNone/>
            </a:pPr>
            <a:r>
              <a:rPr lang="en-US" sz="1800" b="1" dirty="0">
                <a:solidFill>
                  <a:srgbClr val="1A1A1A"/>
                </a:solidFill>
                <a:latin typeface="Calibri" pitchFamily="34" charset="0"/>
                <a:ea typeface="Calibri" pitchFamily="34" charset="-122"/>
                <a:cs typeface="Calibri" pitchFamily="34" charset="-120"/>
              </a:rPr>
              <a:t>Exemplo:</a:t>
            </a:r>
            <a:r>
              <a:rPr lang="en-US" sz="1800" dirty="0">
                <a:solidFill>
                  <a:srgbClr val="595959"/>
                </a:solidFill>
                <a:latin typeface="Calibri" pitchFamily="34" charset="0"/>
                <a:ea typeface="Calibri" pitchFamily="34" charset="-122"/>
                <a:cs typeface="Calibri" pitchFamily="34" charset="-120"/>
              </a:rPr>
              <a:t> um grupo de trabalho pode se auto-organizar de maneira que os membros conheçam mutuamente seus trabalhos e, em caso de ausência de algum deles, possam dividir as tarefas. Essa informação pode não ser mencionada durante uma entrevista, pois o grupo não a percebe como parte integrante de seu trabalho.</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Mapa de Stakeholders</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D9D9D9"/>
          </a:solidFill>
          <a:ln w="25400">
            <a:solidFill>
              <a:srgbClr val="1A1A1A"/>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Mapa de Stakeholders</a:t>
            </a:r>
            <a:endParaRPr lang="en-US" sz="2800" dirty="0"/>
          </a:p>
        </p:txBody>
      </p:sp>
      <p:sp>
        <p:nvSpPr>
          <p:cNvPr id="3" name="Text 1"/>
          <p:cNvSpPr/>
          <p:nvPr/>
        </p:nvSpPr>
        <p:spPr>
          <a:xfrm>
            <a:off x="566928" y="2011680"/>
            <a:ext cx="5760720" cy="2743200"/>
          </a:xfrm>
          <a:prstGeom prst="rect">
            <a:avLst/>
          </a:prstGeom>
          <a:noFill/>
          <a:ln/>
        </p:spPr>
        <p:txBody>
          <a:bodyPr wrap="square" lIns="0" tIns="0" rIns="0" bIns="0" rtlCol="0" anchor="t"/>
          <a:lstStyle/>
          <a:p>
            <a:pPr marL="0" indent="0" algn="l">
              <a:lnSpc>
                <a:spcPts val="3400"/>
              </a:lnSpc>
              <a:buNone/>
            </a:pPr>
            <a:r>
              <a:rPr lang="en-US" sz="2200" dirty="0">
                <a:solidFill>
                  <a:srgbClr val="595959"/>
                </a:solidFill>
                <a:latin typeface="Calibri" pitchFamily="34" charset="0"/>
                <a:ea typeface="Calibri" pitchFamily="34" charset="-122"/>
                <a:cs typeface="Calibri" pitchFamily="34" charset="-120"/>
              </a:rPr>
              <a:t>Ferramenta que permite compreender os principais envolvidos no projeto e identificar os principais valores de cada envolvido</a:t>
            </a:r>
            <a:endParaRPr lang="en-US" sz="2200" dirty="0"/>
          </a:p>
        </p:txBody>
      </p:sp>
      <p:pic>
        <p:nvPicPr>
          <p:cNvPr id="4" name="Image 0" descr="preencoded.png"/>
          <p:cNvPicPr>
            <a:picLocks noChangeAspect="1"/>
          </p:cNvPicPr>
          <p:nvPr/>
        </p:nvPicPr>
        <p:blipFill>
          <a:blip r:embed="rId3"/>
          <a:stretch>
            <a:fillRect/>
          </a:stretch>
        </p:blipFill>
        <p:spPr>
          <a:xfrm>
            <a:off x="6812280" y="2295144"/>
            <a:ext cx="4901184" cy="39776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Mapa de Stakeholders</a:t>
            </a:r>
            <a:endParaRPr lang="en-US" sz="2800" dirty="0"/>
          </a:p>
        </p:txBody>
      </p:sp>
      <p:pic>
        <p:nvPicPr>
          <p:cNvPr id="3" name="Image 0" descr="preencoded.png"/>
          <p:cNvPicPr>
            <a:picLocks noChangeAspect="1"/>
          </p:cNvPicPr>
          <p:nvPr/>
        </p:nvPicPr>
        <p:blipFill>
          <a:blip r:embed="rId3"/>
          <a:stretch>
            <a:fillRect/>
          </a:stretch>
        </p:blipFill>
        <p:spPr>
          <a:xfrm>
            <a:off x="1097280" y="1636776"/>
            <a:ext cx="9994392" cy="46268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40080"/>
            <a:ext cx="11057839" cy="1280160"/>
          </a:xfrm>
          <a:prstGeom prst="rect">
            <a:avLst/>
          </a:prstGeom>
          <a:noFill/>
          <a:ln/>
        </p:spPr>
        <p:txBody>
          <a:bodyPr wrap="square" lIns="0" tIns="0" rIns="0" bIns="0" rtlCol="0" anchor="ctr"/>
          <a:lstStyle/>
          <a:p>
            <a:pPr marL="0" indent="0" algn="l">
              <a:buNone/>
            </a:pPr>
            <a:r>
              <a:rPr lang="en-US" sz="2600" b="1" dirty="0">
                <a:solidFill>
                  <a:srgbClr val="1A1A1A"/>
                </a:solidFill>
                <a:latin typeface="Calibri" pitchFamily="34" charset="0"/>
                <a:ea typeface="Calibri" pitchFamily="34" charset="-122"/>
                <a:cs typeface="Calibri" pitchFamily="34" charset="-120"/>
              </a:rPr>
              <a:t>Mapa de Stakeholders</a:t>
            </a:r>
            <a:endParaRPr lang="en-US" sz="2600" dirty="0"/>
          </a:p>
          <a:p>
            <a:pPr marL="0" indent="0" algn="l">
              <a:buNone/>
            </a:pPr>
            <a:r>
              <a:rPr lang="en-US" sz="2600" b="1" dirty="0">
                <a:solidFill>
                  <a:srgbClr val="1A1A1A"/>
                </a:solidFill>
                <a:latin typeface="Calibri" pitchFamily="34" charset="0"/>
                <a:ea typeface="Calibri" pitchFamily="34" charset="-122"/>
                <a:cs typeface="Calibri" pitchFamily="34" charset="-120"/>
              </a:rPr>
              <a:t>Matriz de Eisenhouwer</a:t>
            </a:r>
            <a:endParaRPr lang="en-US" sz="2600" dirty="0"/>
          </a:p>
        </p:txBody>
      </p:sp>
      <p:pic>
        <p:nvPicPr>
          <p:cNvPr id="3" name="Image 0" descr="preencoded.png"/>
          <p:cNvPicPr>
            <a:picLocks noChangeAspect="1"/>
          </p:cNvPicPr>
          <p:nvPr/>
        </p:nvPicPr>
        <p:blipFill>
          <a:blip r:embed="rId3"/>
          <a:stretch>
            <a:fillRect/>
          </a:stretch>
        </p:blipFill>
        <p:spPr>
          <a:xfrm>
            <a:off x="5404104" y="1069848"/>
            <a:ext cx="6446520" cy="572414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Personas</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D9D9D9"/>
          </a:solidFill>
          <a:ln w="25400">
            <a:solidFill>
              <a:srgbClr val="1A1A1A"/>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FFFFFF"/>
          </a:solidFill>
          <a:ln w="12700">
            <a:solidFill>
              <a:srgbClr val="8C8C8C"/>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Personas</a:t>
            </a:r>
            <a:endParaRPr lang="en-US" sz="2800" dirty="0"/>
          </a:p>
        </p:txBody>
      </p:sp>
      <p:sp>
        <p:nvSpPr>
          <p:cNvPr id="3" name="Text 1"/>
          <p:cNvSpPr/>
          <p:nvPr/>
        </p:nvSpPr>
        <p:spPr>
          <a:xfrm>
            <a:off x="566928" y="1463040"/>
            <a:ext cx="6949440" cy="420624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A persona é um personagem que representa os principais usuários de um produto. A ferramenta personas permite compreender quais as principais características do usuário</a:t>
            </a:r>
            <a:endParaRPr lang="en-US" sz="1800" dirty="0"/>
          </a:p>
          <a:p>
            <a:pPr marL="0" indent="0" algn="just">
              <a:lnSpc>
                <a:spcPts val="2800"/>
              </a:lnSpc>
              <a:buNone/>
            </a:pP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Para efetuá-la realizam-se pesquisas a respeito de elementos comportamentais, faixas etárias, desafios, necessidades e outros dados relevantes.</a:t>
            </a:r>
            <a:endParaRPr lang="en-US" sz="1800" dirty="0"/>
          </a:p>
        </p:txBody>
      </p:sp>
      <p:pic>
        <p:nvPicPr>
          <p:cNvPr id="4" name="Image 0" descr="preencoded.png"/>
          <p:cNvPicPr>
            <a:picLocks noChangeAspect="1"/>
          </p:cNvPicPr>
          <p:nvPr/>
        </p:nvPicPr>
        <p:blipFill>
          <a:blip r:embed="rId3"/>
          <a:stretch>
            <a:fillRect/>
          </a:stretch>
        </p:blipFill>
        <p:spPr>
          <a:xfrm>
            <a:off x="7726680" y="3502152"/>
            <a:ext cx="3968496" cy="285292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Mapa de empatia</a:t>
            </a:r>
            <a:endParaRPr lang="en-US" sz="2800" dirty="0"/>
          </a:p>
        </p:txBody>
      </p:sp>
      <p:pic>
        <p:nvPicPr>
          <p:cNvPr id="3" name="Image 0" descr="preencoded.png"/>
          <p:cNvPicPr>
            <a:picLocks noChangeAspect="1"/>
          </p:cNvPicPr>
          <p:nvPr/>
        </p:nvPicPr>
        <p:blipFill>
          <a:blip r:embed="rId3"/>
          <a:stretch>
            <a:fillRect/>
          </a:stretch>
        </p:blipFill>
        <p:spPr>
          <a:xfrm>
            <a:off x="466344" y="1572768"/>
            <a:ext cx="7269480" cy="3858768"/>
          </a:xfrm>
          <a:prstGeom prst="rect">
            <a:avLst/>
          </a:prstGeom>
        </p:spPr>
      </p:pic>
      <p:pic>
        <p:nvPicPr>
          <p:cNvPr id="4" name="Image 1" descr="preencoded.png"/>
          <p:cNvPicPr>
            <a:picLocks noChangeAspect="1"/>
          </p:cNvPicPr>
          <p:nvPr/>
        </p:nvPicPr>
        <p:blipFill>
          <a:blip r:embed="rId4"/>
          <a:stretch>
            <a:fillRect/>
          </a:stretch>
        </p:blipFill>
        <p:spPr>
          <a:xfrm>
            <a:off x="7735824" y="2331720"/>
            <a:ext cx="4453128" cy="445312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Mapa de empatia</a:t>
            </a:r>
            <a:endParaRPr lang="en-US" sz="2800" dirty="0"/>
          </a:p>
        </p:txBody>
      </p:sp>
      <p:pic>
        <p:nvPicPr>
          <p:cNvPr id="3" name="Image 0" descr="preencoded.png"/>
          <p:cNvPicPr>
            <a:picLocks noChangeAspect="1"/>
          </p:cNvPicPr>
          <p:nvPr/>
        </p:nvPicPr>
        <p:blipFill>
          <a:blip r:embed="rId3"/>
          <a:stretch>
            <a:fillRect/>
          </a:stretch>
        </p:blipFill>
        <p:spPr>
          <a:xfrm>
            <a:off x="1234440" y="1307592"/>
            <a:ext cx="9829800" cy="52120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Brainstorming</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
        <p:nvSpPr>
          <p:cNvPr id="14" name="Shape 12"/>
          <p:cNvSpPr/>
          <p:nvPr/>
        </p:nvSpPr>
        <p:spPr>
          <a:xfrm>
            <a:off x="2157984" y="3977640"/>
            <a:ext cx="1627632" cy="1627632"/>
          </a:xfrm>
          <a:prstGeom prst="ellipse">
            <a:avLst/>
          </a:prstGeom>
          <a:solidFill>
            <a:srgbClr val="FFFFFF"/>
          </a:solidFill>
          <a:ln w="12700">
            <a:solidFill>
              <a:srgbClr val="8C8C8C"/>
            </a:solidFill>
            <a:prstDash val="solid"/>
          </a:ln>
        </p:spPr>
        <p:txBody>
          <a:bodyPr/>
          <a:lstStyle/>
          <a:p>
            <a:endParaRPr lang="en-US"/>
          </a:p>
        </p:txBody>
      </p:sp>
      <p:sp>
        <p:nvSpPr>
          <p:cNvPr id="15" name="Text 13"/>
          <p:cNvSpPr/>
          <p:nvPr/>
        </p:nvSpPr>
        <p:spPr>
          <a:xfrm>
            <a:off x="2157984" y="3977640"/>
            <a:ext cx="1627632" cy="1627632"/>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Entrevistas</a:t>
            </a:r>
            <a:endParaRPr lang="en-US" sz="1200" dirty="0"/>
          </a:p>
        </p:txBody>
      </p:sp>
      <p:sp>
        <p:nvSpPr>
          <p:cNvPr id="16" name="Shape 14"/>
          <p:cNvSpPr/>
          <p:nvPr/>
        </p:nvSpPr>
        <p:spPr>
          <a:xfrm>
            <a:off x="3904488" y="5111496"/>
            <a:ext cx="1371600" cy="1371600"/>
          </a:xfrm>
          <a:prstGeom prst="ellipse">
            <a:avLst/>
          </a:prstGeom>
          <a:solidFill>
            <a:srgbClr val="FFFFFF"/>
          </a:solidFill>
          <a:ln w="12700">
            <a:solidFill>
              <a:srgbClr val="8C8C8C"/>
            </a:solidFill>
            <a:prstDash val="dash"/>
          </a:ln>
        </p:spPr>
        <p:txBody>
          <a:bodyPr/>
          <a:lstStyle/>
          <a:p>
            <a:endParaRPr lang="en-US"/>
          </a:p>
        </p:txBody>
      </p:sp>
      <p:sp>
        <p:nvSpPr>
          <p:cNvPr id="17" name="Text 15"/>
          <p:cNvSpPr/>
          <p:nvPr/>
        </p:nvSpPr>
        <p:spPr>
          <a:xfrm>
            <a:off x="3904488" y="5111496"/>
            <a:ext cx="1371600" cy="137160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Mapa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Stakeholders</a:t>
            </a:r>
            <a:endParaRPr lang="en-US" sz="1200" dirty="0"/>
          </a:p>
        </p:txBody>
      </p:sp>
      <p:sp>
        <p:nvSpPr>
          <p:cNvPr id="18" name="Shape 16"/>
          <p:cNvSpPr/>
          <p:nvPr/>
        </p:nvSpPr>
        <p:spPr>
          <a:xfrm>
            <a:off x="4878324" y="3570732"/>
            <a:ext cx="1508760" cy="1508760"/>
          </a:xfrm>
          <a:prstGeom prst="ellipse">
            <a:avLst/>
          </a:prstGeom>
          <a:solidFill>
            <a:srgbClr val="FFFFFF"/>
          </a:solidFill>
          <a:ln w="12700">
            <a:solidFill>
              <a:srgbClr val="8C8C8C"/>
            </a:solidFill>
            <a:prstDash val="solid"/>
          </a:ln>
        </p:spPr>
        <p:txBody>
          <a:bodyPr/>
          <a:lstStyle/>
          <a:p>
            <a:endParaRPr lang="en-US"/>
          </a:p>
        </p:txBody>
      </p:sp>
      <p:sp>
        <p:nvSpPr>
          <p:cNvPr id="19" name="Text 17"/>
          <p:cNvSpPr/>
          <p:nvPr/>
        </p:nvSpPr>
        <p:spPr>
          <a:xfrm>
            <a:off x="4878324" y="3570732"/>
            <a:ext cx="1508760" cy="150876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Cenários</a:t>
            </a:r>
            <a:endParaRPr lang="en-US" sz="1200" dirty="0"/>
          </a:p>
        </p:txBody>
      </p:sp>
      <p:sp>
        <p:nvSpPr>
          <p:cNvPr id="20" name="Shape 18"/>
          <p:cNvSpPr/>
          <p:nvPr/>
        </p:nvSpPr>
        <p:spPr>
          <a:xfrm>
            <a:off x="6761988" y="3442716"/>
            <a:ext cx="1344168" cy="1344168"/>
          </a:xfrm>
          <a:prstGeom prst="ellipse">
            <a:avLst/>
          </a:prstGeom>
          <a:solidFill>
            <a:srgbClr val="FFFFFF"/>
          </a:solidFill>
          <a:ln w="12700">
            <a:solidFill>
              <a:srgbClr val="8C8C8C"/>
            </a:solidFill>
            <a:prstDash val="dash"/>
          </a:ln>
        </p:spPr>
        <p:txBody>
          <a:bodyPr/>
          <a:lstStyle/>
          <a:p>
            <a:endParaRPr lang="en-US"/>
          </a:p>
        </p:txBody>
      </p:sp>
      <p:sp>
        <p:nvSpPr>
          <p:cNvPr id="21" name="Text 19"/>
          <p:cNvSpPr/>
          <p:nvPr/>
        </p:nvSpPr>
        <p:spPr>
          <a:xfrm>
            <a:off x="6761988" y="3442716"/>
            <a:ext cx="1344168" cy="134416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Personas</a:t>
            </a:r>
            <a:endParaRPr lang="en-US" sz="1200" dirty="0"/>
          </a:p>
        </p:txBody>
      </p:sp>
      <p:sp>
        <p:nvSpPr>
          <p:cNvPr id="22" name="Shape 20"/>
          <p:cNvSpPr/>
          <p:nvPr/>
        </p:nvSpPr>
        <p:spPr>
          <a:xfrm>
            <a:off x="6510528" y="4956048"/>
            <a:ext cx="1389888" cy="1389888"/>
          </a:xfrm>
          <a:prstGeom prst="ellipse">
            <a:avLst/>
          </a:prstGeom>
          <a:solidFill>
            <a:srgbClr val="FFFFFF"/>
          </a:solidFill>
          <a:ln w="12700">
            <a:solidFill>
              <a:srgbClr val="8C8C8C"/>
            </a:solidFill>
            <a:prstDash val="solid"/>
          </a:ln>
        </p:spPr>
        <p:txBody>
          <a:bodyPr/>
          <a:lstStyle/>
          <a:p>
            <a:endParaRPr lang="en-US"/>
          </a:p>
        </p:txBody>
      </p:sp>
      <p:sp>
        <p:nvSpPr>
          <p:cNvPr id="23" name="Text 21"/>
          <p:cNvSpPr/>
          <p:nvPr/>
        </p:nvSpPr>
        <p:spPr>
          <a:xfrm>
            <a:off x="6510528" y="4956048"/>
            <a:ext cx="1389888" cy="138988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Casos de</a:t>
            </a:r>
            <a:endParaRPr lang="en-US" sz="1200" dirty="0"/>
          </a:p>
          <a:p>
            <a:pPr marL="0" indent="0" algn="ctr">
              <a:buNone/>
            </a:pPr>
            <a:r>
              <a:rPr lang="en-US" sz="1200" dirty="0">
                <a:solidFill>
                  <a:srgbClr val="1A1A1A"/>
                </a:solidFill>
                <a:latin typeface="Calibri" pitchFamily="34" charset="0"/>
                <a:ea typeface="Calibri" pitchFamily="34" charset="-122"/>
                <a:cs typeface="Calibri" pitchFamily="34" charset="-120"/>
              </a:rPr>
              <a:t>Uso</a:t>
            </a:r>
            <a:endParaRPr lang="en-US" sz="1200" dirty="0"/>
          </a:p>
        </p:txBody>
      </p:sp>
      <p:sp>
        <p:nvSpPr>
          <p:cNvPr id="24" name="Shape 22"/>
          <p:cNvSpPr/>
          <p:nvPr/>
        </p:nvSpPr>
        <p:spPr>
          <a:xfrm>
            <a:off x="8193024" y="3621024"/>
            <a:ext cx="1463040" cy="1463040"/>
          </a:xfrm>
          <a:prstGeom prst="ellipse">
            <a:avLst/>
          </a:prstGeom>
          <a:solidFill>
            <a:srgbClr val="FFFFFF"/>
          </a:solidFill>
          <a:ln w="12700">
            <a:solidFill>
              <a:srgbClr val="8C8C8C"/>
            </a:solidFill>
            <a:prstDash val="solid"/>
          </a:ln>
        </p:spPr>
        <p:txBody>
          <a:bodyPr/>
          <a:lstStyle/>
          <a:p>
            <a:endParaRPr lang="en-US"/>
          </a:p>
        </p:txBody>
      </p:sp>
      <p:sp>
        <p:nvSpPr>
          <p:cNvPr id="25" name="Text 23"/>
          <p:cNvSpPr/>
          <p:nvPr/>
        </p:nvSpPr>
        <p:spPr>
          <a:xfrm>
            <a:off x="8193024" y="3621024"/>
            <a:ext cx="1463040" cy="14630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Etnografia</a:t>
            </a:r>
            <a:endParaRPr lang="en-US" sz="1200" dirty="0"/>
          </a:p>
        </p:txBody>
      </p:sp>
      <p:sp>
        <p:nvSpPr>
          <p:cNvPr id="26" name="Shape 24"/>
          <p:cNvSpPr/>
          <p:nvPr/>
        </p:nvSpPr>
        <p:spPr>
          <a:xfrm>
            <a:off x="8654796" y="5271516"/>
            <a:ext cx="1179576" cy="1179576"/>
          </a:xfrm>
          <a:prstGeom prst="ellipse">
            <a:avLst/>
          </a:prstGeom>
          <a:solidFill>
            <a:srgbClr val="D9D9D9"/>
          </a:solidFill>
          <a:ln w="25400">
            <a:solidFill>
              <a:srgbClr val="1A1A1A"/>
            </a:solidFill>
            <a:prstDash val="dash"/>
          </a:ln>
        </p:spPr>
        <p:txBody>
          <a:bodyPr/>
          <a:lstStyle/>
          <a:p>
            <a:endParaRPr lang="en-US"/>
          </a:p>
        </p:txBody>
      </p:sp>
      <p:sp>
        <p:nvSpPr>
          <p:cNvPr id="27" name="Text 25"/>
          <p:cNvSpPr/>
          <p:nvPr/>
        </p:nvSpPr>
        <p:spPr>
          <a:xfrm>
            <a:off x="8654796" y="5271516"/>
            <a:ext cx="1179576" cy="117957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Brainstorming</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Brainstorming</a:t>
            </a:r>
            <a:endParaRPr lang="en-US" sz="2800" dirty="0"/>
          </a:p>
        </p:txBody>
      </p:sp>
      <p:sp>
        <p:nvSpPr>
          <p:cNvPr id="3" name="Text 1"/>
          <p:cNvSpPr/>
          <p:nvPr/>
        </p:nvSpPr>
        <p:spPr>
          <a:xfrm>
            <a:off x="566928" y="1371600"/>
            <a:ext cx="6400800" cy="4937760"/>
          </a:xfrm>
          <a:prstGeom prst="rect">
            <a:avLst/>
          </a:prstGeom>
          <a:noFill/>
          <a:ln/>
        </p:spPr>
        <p:txBody>
          <a:bodyPr wrap="square" lIns="0" tIns="0" rIns="0" bIns="0" rtlCol="0" anchor="t"/>
          <a:lstStyle/>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Técnica utilizada para propor soluções para um problema específico, trata-se de uma reunião na qual os participantes devem ter liberdade de expor suas sugestões e debater sobre as contribuições dos colegas.</a:t>
            </a:r>
            <a:endParaRPr lang="en-US" sz="1800" dirty="0"/>
          </a:p>
          <a:p>
            <a:pPr marL="0" indent="0" algn="just">
              <a:lnSpc>
                <a:spcPts val="2800"/>
              </a:lnSpc>
              <a:buNone/>
            </a:pPr>
            <a:endParaRPr lang="en-US" sz="1800" dirty="0"/>
          </a:p>
          <a:p>
            <a:pPr marL="0" indent="0" algn="just">
              <a:lnSpc>
                <a:spcPts val="2800"/>
              </a:lnSpc>
              <a:buNone/>
            </a:pPr>
            <a:r>
              <a:rPr lang="en-US" sz="1800" dirty="0">
                <a:solidFill>
                  <a:srgbClr val="595959"/>
                </a:solidFill>
                <a:latin typeface="Calibri" pitchFamily="34" charset="0"/>
                <a:ea typeface="Calibri" pitchFamily="34" charset="-122"/>
                <a:cs typeface="Calibri" pitchFamily="34" charset="-120"/>
              </a:rPr>
              <a:t>O primeiro passo trata-se da identificação do problema. Para executar a reunião todos os colaboradores devem se preparar antecipadamente, é importante que todos saibam do que se trata a atividade antes de iniciá-la.</a:t>
            </a:r>
            <a:endParaRPr lang="en-US" sz="1800" dirty="0"/>
          </a:p>
        </p:txBody>
      </p:sp>
      <p:pic>
        <p:nvPicPr>
          <p:cNvPr id="4" name="Image 0" descr="preencoded.png"/>
          <p:cNvPicPr>
            <a:picLocks noChangeAspect="1"/>
          </p:cNvPicPr>
          <p:nvPr/>
        </p:nvPicPr>
        <p:blipFill>
          <a:blip r:embed="rId3"/>
          <a:stretch>
            <a:fillRect/>
          </a:stretch>
        </p:blipFill>
        <p:spPr>
          <a:xfrm>
            <a:off x="7589520" y="1188720"/>
            <a:ext cx="3931920" cy="43891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Processo da Engenharia de Requisitos</a:t>
            </a:r>
            <a:endParaRPr lang="en-US" sz="2800" dirty="0"/>
          </a:p>
        </p:txBody>
      </p:sp>
      <p:sp>
        <p:nvSpPr>
          <p:cNvPr id="3" name="Shape 1"/>
          <p:cNvSpPr/>
          <p:nvPr/>
        </p:nvSpPr>
        <p:spPr>
          <a:xfrm>
            <a:off x="1755648" y="1965960"/>
            <a:ext cx="1965960" cy="1005840"/>
          </a:xfrm>
          <a:prstGeom prst="rect">
            <a:avLst/>
          </a:prstGeom>
          <a:solidFill>
            <a:srgbClr val="D9D9D9"/>
          </a:solidFill>
          <a:ln w="25400">
            <a:solidFill>
              <a:srgbClr val="1A1A1A"/>
            </a:solidFill>
            <a:prstDash val="solid"/>
          </a:ln>
        </p:spPr>
        <p:txBody>
          <a:bodyPr/>
          <a:lstStyle/>
          <a:p>
            <a:endParaRPr lang="en-US"/>
          </a:p>
        </p:txBody>
      </p:sp>
      <p:sp>
        <p:nvSpPr>
          <p:cNvPr id="4" name="Text 2"/>
          <p:cNvSpPr/>
          <p:nvPr/>
        </p:nvSpPr>
        <p:spPr>
          <a:xfrm>
            <a:off x="1755648" y="1965960"/>
            <a:ext cx="1965960" cy="10058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Elicitação</a:t>
            </a:r>
            <a:endParaRPr lang="en-US" sz="1600" dirty="0"/>
          </a:p>
        </p:txBody>
      </p:sp>
      <p:sp>
        <p:nvSpPr>
          <p:cNvPr id="5" name="Shape 3"/>
          <p:cNvSpPr/>
          <p:nvPr/>
        </p:nvSpPr>
        <p:spPr>
          <a:xfrm>
            <a:off x="3749040" y="2468880"/>
            <a:ext cx="210312" cy="0"/>
          </a:xfrm>
          <a:prstGeom prst="line">
            <a:avLst/>
          </a:prstGeom>
          <a:noFill/>
          <a:ln w="12700">
            <a:solidFill>
              <a:srgbClr val="8C8C8C"/>
            </a:solidFill>
            <a:prstDash val="solid"/>
            <a:tailEnd type="triangle"/>
          </a:ln>
        </p:spPr>
        <p:txBody>
          <a:bodyPr/>
          <a:lstStyle/>
          <a:p>
            <a:endParaRPr lang="en-US"/>
          </a:p>
        </p:txBody>
      </p:sp>
      <p:sp>
        <p:nvSpPr>
          <p:cNvPr id="6" name="Shape 4"/>
          <p:cNvSpPr/>
          <p:nvPr/>
        </p:nvSpPr>
        <p:spPr>
          <a:xfrm>
            <a:off x="3986784"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7" name="Text 5"/>
          <p:cNvSpPr/>
          <p:nvPr/>
        </p:nvSpPr>
        <p:spPr>
          <a:xfrm>
            <a:off x="3986784"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Análise</a:t>
            </a:r>
            <a:endParaRPr lang="en-US" sz="1600" dirty="0"/>
          </a:p>
        </p:txBody>
      </p:sp>
      <p:sp>
        <p:nvSpPr>
          <p:cNvPr id="8" name="Shape 6"/>
          <p:cNvSpPr/>
          <p:nvPr/>
        </p:nvSpPr>
        <p:spPr>
          <a:xfrm>
            <a:off x="5980176" y="2468880"/>
            <a:ext cx="210312" cy="0"/>
          </a:xfrm>
          <a:prstGeom prst="line">
            <a:avLst/>
          </a:prstGeom>
          <a:noFill/>
          <a:ln w="12700">
            <a:solidFill>
              <a:srgbClr val="8C8C8C"/>
            </a:solidFill>
            <a:prstDash val="solid"/>
            <a:tailEnd type="triangle"/>
          </a:ln>
        </p:spPr>
        <p:txBody>
          <a:bodyPr/>
          <a:lstStyle/>
          <a:p>
            <a:endParaRPr lang="en-US"/>
          </a:p>
        </p:txBody>
      </p:sp>
      <p:sp>
        <p:nvSpPr>
          <p:cNvPr id="9" name="Shape 7"/>
          <p:cNvSpPr/>
          <p:nvPr/>
        </p:nvSpPr>
        <p:spPr>
          <a:xfrm>
            <a:off x="6217920"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0" name="Text 8"/>
          <p:cNvSpPr/>
          <p:nvPr/>
        </p:nvSpPr>
        <p:spPr>
          <a:xfrm>
            <a:off x="6217920"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Especificação</a:t>
            </a:r>
            <a:endParaRPr lang="en-US" sz="1600" dirty="0"/>
          </a:p>
        </p:txBody>
      </p:sp>
      <p:sp>
        <p:nvSpPr>
          <p:cNvPr id="11" name="Shape 9"/>
          <p:cNvSpPr/>
          <p:nvPr/>
        </p:nvSpPr>
        <p:spPr>
          <a:xfrm>
            <a:off x="8211312" y="2468880"/>
            <a:ext cx="210312" cy="0"/>
          </a:xfrm>
          <a:prstGeom prst="line">
            <a:avLst/>
          </a:prstGeom>
          <a:noFill/>
          <a:ln w="12700">
            <a:solidFill>
              <a:srgbClr val="8C8C8C"/>
            </a:solidFill>
            <a:prstDash val="solid"/>
            <a:tailEnd type="triangle"/>
          </a:ln>
        </p:spPr>
        <p:txBody>
          <a:bodyPr/>
          <a:lstStyle/>
          <a:p>
            <a:endParaRPr lang="en-US"/>
          </a:p>
        </p:txBody>
      </p:sp>
      <p:sp>
        <p:nvSpPr>
          <p:cNvPr id="12" name="Shape 10"/>
          <p:cNvSpPr/>
          <p:nvPr/>
        </p:nvSpPr>
        <p:spPr>
          <a:xfrm>
            <a:off x="8449056" y="1965960"/>
            <a:ext cx="1965960" cy="1005840"/>
          </a:xfrm>
          <a:prstGeom prst="rect">
            <a:avLst/>
          </a:prstGeom>
          <a:solidFill>
            <a:srgbClr val="FFFFFF"/>
          </a:solidFill>
          <a:ln w="12700">
            <a:solidFill>
              <a:srgbClr val="8C8C8C"/>
            </a:solidFill>
            <a:prstDash val="solid"/>
          </a:ln>
        </p:spPr>
        <p:txBody>
          <a:bodyPr/>
          <a:lstStyle/>
          <a:p>
            <a:endParaRPr lang="en-US"/>
          </a:p>
        </p:txBody>
      </p:sp>
      <p:sp>
        <p:nvSpPr>
          <p:cNvPr id="13" name="Text 11"/>
          <p:cNvSpPr/>
          <p:nvPr/>
        </p:nvSpPr>
        <p:spPr>
          <a:xfrm>
            <a:off x="8449056" y="1965960"/>
            <a:ext cx="1965960" cy="100584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Validação</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Desafios da elicitação de requisitos</a:t>
            </a:r>
            <a:endParaRPr lang="en-US" sz="2800" dirty="0"/>
          </a:p>
        </p:txBody>
      </p:sp>
      <p:sp>
        <p:nvSpPr>
          <p:cNvPr id="3" name="Text 1"/>
          <p:cNvSpPr/>
          <p:nvPr/>
        </p:nvSpPr>
        <p:spPr>
          <a:xfrm>
            <a:off x="566928" y="1554480"/>
            <a:ext cx="10058400" cy="4389120"/>
          </a:xfrm>
          <a:prstGeom prst="rect">
            <a:avLst/>
          </a:prstGeom>
          <a:noFill/>
          <a:ln/>
        </p:spPr>
        <p:txBody>
          <a:bodyPr wrap="square" lIns="0" tIns="0" rIns="0" bIns="0" rtlCol="0" anchor="t"/>
          <a:lstStyle/>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1. Stakeholders costumam não saber o que querem;</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2. Expressam requisitos em seus próprios termos profissionais;</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3. Gerentes podem exigir requisitos específicos, porque estes lhes permitirão aumentar sua influência na organização;</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4. Mudanças durante o processo de análise;</a:t>
            </a:r>
            <a:endParaRPr lang="en-US" sz="2000" dirty="0"/>
          </a:p>
          <a:p>
            <a:pPr marL="0" indent="0" algn="l">
              <a:lnSpc>
                <a:spcPts val="3400"/>
              </a:lnSpc>
              <a:buNone/>
            </a:pPr>
            <a:r>
              <a:rPr lang="en-US" sz="2000" dirty="0">
                <a:solidFill>
                  <a:srgbClr val="595959"/>
                </a:solidFill>
                <a:latin typeface="Calibri" pitchFamily="34" charset="0"/>
                <a:ea typeface="Calibri" pitchFamily="34" charset="-122"/>
                <a:cs typeface="Calibri" pitchFamily="34" charset="-120"/>
              </a:rPr>
              <a:t>5. Opiniões diferentes sobre a importância e prioridade dos requisitos.</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411480"/>
            <a:ext cx="11057839"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Referências</a:t>
            </a:r>
            <a:endParaRPr lang="en-US" sz="2800" dirty="0"/>
          </a:p>
        </p:txBody>
      </p:sp>
      <p:sp>
        <p:nvSpPr>
          <p:cNvPr id="3" name="Text 1"/>
          <p:cNvSpPr/>
          <p:nvPr/>
        </p:nvSpPr>
        <p:spPr>
          <a:xfrm>
            <a:off x="566928" y="1554480"/>
            <a:ext cx="10424160" cy="4389120"/>
          </a:xfrm>
          <a:prstGeom prst="rect">
            <a:avLst/>
          </a:prstGeom>
          <a:noFill/>
          <a:ln/>
        </p:spPr>
        <p:txBody>
          <a:bodyPr wrap="square" lIns="0" tIns="0" rIns="0" bIns="0" rtlCol="0" anchor="t"/>
          <a:lstStyle/>
          <a:p>
            <a:pPr marL="0" indent="0" algn="l">
              <a:lnSpc>
                <a:spcPts val="2800"/>
              </a:lnSpc>
              <a:buNone/>
            </a:pPr>
            <a:r>
              <a:rPr lang="en-US" sz="1800" dirty="0">
                <a:solidFill>
                  <a:srgbClr val="595959"/>
                </a:solidFill>
                <a:latin typeface="Calibri" pitchFamily="34" charset="0"/>
                <a:ea typeface="Calibri" pitchFamily="34" charset="-122"/>
                <a:cs typeface="Calibri" pitchFamily="34" charset="-120"/>
              </a:rPr>
              <a:t>FERNANDES, João M.; MACHADO, Ricardo J. Requisitos em projetos de software e de sistemas de informação. São Paulo: Novatec, 2018.</a:t>
            </a:r>
            <a:endParaRPr lang="en-US" sz="1800" dirty="0"/>
          </a:p>
          <a:p>
            <a:pPr marL="0" indent="0" algn="l">
              <a:lnSpc>
                <a:spcPts val="2800"/>
              </a:lnSpc>
              <a:buNone/>
            </a:pPr>
            <a:endParaRPr lang="en-US" sz="1800" dirty="0"/>
          </a:p>
          <a:p>
            <a:pPr marL="0" indent="0" algn="l">
              <a:lnSpc>
                <a:spcPts val="2800"/>
              </a:lnSpc>
              <a:buNone/>
            </a:pPr>
            <a:r>
              <a:rPr lang="en-US" sz="1800" dirty="0">
                <a:solidFill>
                  <a:srgbClr val="595959"/>
                </a:solidFill>
                <a:latin typeface="Calibri" pitchFamily="34" charset="0"/>
                <a:ea typeface="Calibri" pitchFamily="34" charset="-122"/>
                <a:cs typeface="Calibri" pitchFamily="34" charset="-120"/>
              </a:rPr>
              <a:t>GUEDES, Gilleanes T. UML 2 – uma abordagem prática. São Paulo: Novatec, 2018.</a:t>
            </a:r>
            <a:endParaRPr lang="en-US" sz="1800" dirty="0"/>
          </a:p>
          <a:p>
            <a:pPr marL="0" indent="0" algn="l">
              <a:lnSpc>
                <a:spcPts val="2800"/>
              </a:lnSpc>
              <a:buNone/>
            </a:pPr>
            <a:endParaRPr lang="en-US" sz="1800" dirty="0"/>
          </a:p>
          <a:p>
            <a:pPr marL="0" indent="0" algn="l">
              <a:lnSpc>
                <a:spcPts val="2800"/>
              </a:lnSpc>
              <a:buNone/>
            </a:pPr>
            <a:r>
              <a:rPr lang="en-US" sz="1800" dirty="0">
                <a:solidFill>
                  <a:srgbClr val="595959"/>
                </a:solidFill>
                <a:latin typeface="Calibri" pitchFamily="34" charset="0"/>
                <a:ea typeface="Calibri" pitchFamily="34" charset="-122"/>
                <a:cs typeface="Calibri" pitchFamily="34" charset="-120"/>
              </a:rPr>
              <a:t>PRESSMAN, Roger S.; MAXIM, Bruce R.; MANZAN DE ANDRADE, Reginaldo A. J. A. Engenharia de software: uma abordagem profissional. Porto Alegre: Bookman, 2016.</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2743200"/>
            <a:ext cx="7315200" cy="1097280"/>
          </a:xfrm>
          <a:prstGeom prst="rect">
            <a:avLst/>
          </a:prstGeom>
          <a:noFill/>
          <a:ln/>
        </p:spPr>
        <p:txBody>
          <a:bodyPr wrap="square" rtlCol="0" anchor="ctr"/>
          <a:lstStyle/>
          <a:p>
            <a:pPr marL="0" indent="0" algn="l">
              <a:buNone/>
            </a:pPr>
            <a:r>
              <a:rPr lang="en-US" sz="4000" b="1" dirty="0">
                <a:solidFill>
                  <a:srgbClr val="1A1A1A"/>
                </a:solidFill>
                <a:latin typeface="Calibri" pitchFamily="34" charset="0"/>
                <a:ea typeface="Calibri" pitchFamily="34" charset="-122"/>
                <a:cs typeface="Calibri" pitchFamily="34" charset="-120"/>
              </a:rPr>
              <a:t>Dúvidas?</a:t>
            </a:r>
            <a:endParaRPr lang="en-US" sz="4000" dirty="0"/>
          </a:p>
        </p:txBody>
      </p:sp>
      <p:sp>
        <p:nvSpPr>
          <p:cNvPr id="3" name="Text 1"/>
          <p:cNvSpPr/>
          <p:nvPr/>
        </p:nvSpPr>
        <p:spPr>
          <a:xfrm>
            <a:off x="566928" y="3931920"/>
            <a:ext cx="7315200" cy="548640"/>
          </a:xfrm>
          <a:prstGeom prst="rect">
            <a:avLst/>
          </a:prstGeom>
          <a:noFill/>
          <a:ln/>
        </p:spPr>
        <p:txBody>
          <a:bodyPr wrap="square" rtlCol="0" anchor="ctr"/>
          <a:lstStyle/>
          <a:p>
            <a:pPr marL="0" indent="0" algn="l">
              <a:buNone/>
            </a:pPr>
            <a:r>
              <a:rPr lang="en-US" sz="1600" dirty="0">
                <a:solidFill>
                  <a:srgbClr val="595959"/>
                </a:solidFill>
                <a:latin typeface="Calibri" pitchFamily="34" charset="0"/>
                <a:ea typeface="Calibri" pitchFamily="34" charset="-122"/>
                <a:cs typeface="Calibri" pitchFamily="34" charset="-120"/>
              </a:rPr>
              <a:t>denise.maciel@docente.pr.senac.br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3061</Words>
  <Application>Microsoft Office PowerPoint</Application>
  <PresentationFormat>Widescreen</PresentationFormat>
  <Paragraphs>405</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Engenharia de Requisitos - UML | Aula 03: Processo de Engenharia de Requisitos</dc:title>
  <dc:subject>PptxGenJS Presentation</dc:subject>
  <dc:creator>Profa. Me. Denise do Rocio Maciel</dc:creator>
  <cp:lastModifiedBy>Denise Do Rocio Maciel</cp:lastModifiedBy>
  <cp:revision>2</cp:revision>
  <dcterms:created xsi:type="dcterms:W3CDTF">2026-08-10T22:51:09Z</dcterms:created>
  <dcterms:modified xsi:type="dcterms:W3CDTF">2026-08-10T23:25:28Z</dcterms:modified>
</cp:coreProperties>
</file>